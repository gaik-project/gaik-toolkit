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147471336" r:id="rId5"/>
    <p:sldId id="2147471382" r:id="rId6"/>
    <p:sldId id="2145706109" r:id="rId7"/>
    <p:sldId id="2147471385" r:id="rId8"/>
    <p:sldId id="2147471383" r:id="rId9"/>
    <p:sldId id="838840679" r:id="rId10"/>
    <p:sldId id="838840680" r:id="rId11"/>
    <p:sldId id="8388406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6C0E32-793B-DBFF-DEB4-E6681A29B393}" name="Veera Saastamoinen (TAU)" initials="VS" userId="S::veera.a.saastamoinen@tuni.fi::756757ee-5b2f-4556-bb55-3ca20ae54e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C5E0B4"/>
    <a:srgbClr val="F8CBAD"/>
    <a:srgbClr val="FFE699"/>
    <a:srgbClr val="A672D9"/>
    <a:srgbClr val="0079C2"/>
    <a:srgbClr val="572F91"/>
    <a:srgbClr val="0516BB"/>
    <a:srgbClr val="038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5"/>
    <p:restoredTop sz="68453"/>
  </p:normalViewPr>
  <p:slideViewPr>
    <p:cSldViewPr snapToGrid="0">
      <p:cViewPr varScale="1">
        <p:scale>
          <a:sx n="79" d="100"/>
          <a:sy n="79" d="100"/>
        </p:scale>
        <p:origin x="12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5D973-7692-4EC6-B084-5EDDAEE0B1E1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"/>
              <a:t>Click to edit Master text styles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86BE0-6A57-4BA8-9F1B-D50DC7F05A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990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9493E-45E4-7A4C-B694-4596764CF507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65058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9493E-45E4-7A4C-B694-4596764CF507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54612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922EB-A173-C243-84F5-566FD1C18B7D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24209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86BE0-6A57-4BA8-9F1B-D50DC7F05A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8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86BE0-6A57-4BA8-9F1B-D50DC7F05A8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52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86BE0-6A57-4BA8-9F1B-D50DC7F05A8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38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4F2DD0-4EFA-CC68-39AE-304097D9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0657" y="6288437"/>
            <a:ext cx="815406" cy="365125"/>
          </a:xfrm>
          <a:prstGeom prst="rect">
            <a:avLst/>
          </a:prstGeom>
        </p:spPr>
        <p:txBody>
          <a:bodyPr/>
          <a:lstStyle/>
          <a:p>
            <a:fld id="{D2E17652-E0E3-4679-AD73-518C995FCB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20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_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302588"/>
            <a:ext cx="11125198" cy="4610849"/>
          </a:xfrm>
        </p:spPr>
        <p:txBody>
          <a:bodyPr numCol="1"/>
          <a:lstStyle/>
          <a:p>
            <a:pPr lvl="0"/>
            <a:r>
              <a:rPr lang="en"/>
              <a:t>Edit Master text styles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94154B-3085-69DC-543E-666622E0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76045"/>
            <a:ext cx="11125200" cy="668517"/>
          </a:xfrm>
          <a:prstGeom prst="rect">
            <a:avLst/>
          </a:prstGeom>
        </p:spPr>
        <p:txBody>
          <a:bodyPr vert="horz" lIns="0" tIns="0" rIns="0" bIns="36000" rtlCol="0" anchor="t" anchorCtr="0">
            <a:normAutofit/>
          </a:bodyPr>
          <a:lstStyle/>
          <a:p>
            <a:r>
              <a:rPr lang="en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462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1403-B986-FA54-16B7-C698ABEA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A6817-28A8-EA48-766B-B3E365B07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"/>
              <a:t>Click to edit Master text styles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80AEA-B0B6-BB88-0618-F4EE8D10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B4B8-E016-4458-82BE-FA721BE1972C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58B2-40E9-8A21-8AAB-02F3DDED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5FDA7-27C1-219B-C826-871B80AA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60AC-F557-435C-9619-4AAC19127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07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63482-3E3E-724A-87A8-CA82245B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26169"/>
            <a:ext cx="11125199" cy="959168"/>
          </a:xfrm>
          <a:prstGeom prst="rect">
            <a:avLst/>
          </a:prstGeom>
        </p:spPr>
        <p:txBody>
          <a:bodyPr vert="horz" lIns="0" tIns="0" rIns="0" bIns="36000" rtlCol="0" anchor="t" anchorCtr="0">
            <a:normAutofit/>
          </a:bodyPr>
          <a:lstStyle/>
          <a:p>
            <a:r>
              <a:rPr lang="en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45BB-E865-604D-BAD8-9A4AAA649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609336"/>
            <a:ext cx="11125200" cy="4140200"/>
          </a:xfrm>
          <a:prstGeom prst="rect">
            <a:avLst/>
          </a:prstGeom>
        </p:spPr>
        <p:txBody>
          <a:bodyPr vert="horz" lIns="0" tIns="0" rIns="0" bIns="36000" numCol="2" spcCol="360000" rtlCol="0">
            <a:normAutofit/>
          </a:bodyPr>
          <a:lstStyle/>
          <a:p>
            <a:pPr lvl="0"/>
            <a:r>
              <a:rPr lang="en"/>
              <a:t>Edit Master text styles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BB03F7-6D8B-994F-B00B-57FCFD1550EE}"/>
              </a:ext>
            </a:extLst>
          </p:cNvPr>
          <p:cNvSpPr/>
          <p:nvPr userDrawn="1"/>
        </p:nvSpPr>
        <p:spPr>
          <a:xfrm>
            <a:off x="0" y="6136545"/>
            <a:ext cx="12192000" cy="721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3BE1B-B189-8D41-8637-DAFFE0A4F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977" y="6288437"/>
            <a:ext cx="384086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76BAB7ED-EDE9-4D4B-9A2D-30E18C47C16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69003C9-084D-FC26-1D39-0D749248175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3335" y="6224222"/>
            <a:ext cx="2396986" cy="534797"/>
          </a:xfrm>
          <a:prstGeom prst="rect">
            <a:avLst/>
          </a:prstGeom>
        </p:spPr>
      </p:pic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65E5AF0-B41F-D724-AC9E-2D9EC748B3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6005" b="22114"/>
          <a:stretch/>
        </p:blipFill>
        <p:spPr>
          <a:xfrm>
            <a:off x="4930715" y="6139166"/>
            <a:ext cx="1295400" cy="720021"/>
          </a:xfrm>
          <a:prstGeom prst="rect">
            <a:avLst/>
          </a:prstGeom>
        </p:spPr>
      </p:pic>
      <p:pic>
        <p:nvPicPr>
          <p:cNvPr id="12" name="Picture 1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D739856-1CBC-F3E7-8AB3-1220AB3FD40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6305539"/>
            <a:ext cx="1119144" cy="369521"/>
          </a:xfrm>
          <a:prstGeom prst="rect">
            <a:avLst/>
          </a:prstGeom>
        </p:spPr>
      </p:pic>
      <p:pic>
        <p:nvPicPr>
          <p:cNvPr id="13" name="Picture 12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E3BB73EA-BD26-A591-9B30-DBD48FBFCDF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794" y="6165164"/>
            <a:ext cx="1667355" cy="650268"/>
          </a:xfrm>
          <a:prstGeom prst="rect">
            <a:avLst/>
          </a:prstGeom>
        </p:spPr>
      </p:pic>
      <p:pic>
        <p:nvPicPr>
          <p:cNvPr id="14" name="Picture 13" descr="A black and grey logo&#10;&#10;AI-generated content may be incorrect.">
            <a:extLst>
              <a:ext uri="{FF2B5EF4-FFF2-40B4-BE49-F238E27FC236}">
                <a16:creationId xmlns:a16="http://schemas.microsoft.com/office/drawing/2014/main" id="{F37C63C1-9AFF-4F83-B92E-E2185D3D911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748" y="6154365"/>
            <a:ext cx="1610206" cy="67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6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97" r:id="rId3"/>
  </p:sldLayoutIdLst>
  <p:hf hdr="0"/>
  <p:txStyles>
    <p:titleStyle>
      <a:lvl1pPr algn="l" defTabSz="914400" rtl="0" eaLnBrk="1" latinLnBrk="0" hangingPunct="1">
        <a:lnSpc>
          <a:spcPts val="39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ts val="22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47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1117">
          <p15:clr>
            <a:srgbClr val="F26B43"/>
          </p15:clr>
        </p15:guide>
        <p15:guide id="7" orient="horz" pos="3725">
          <p15:clr>
            <a:srgbClr val="F26B43"/>
          </p15:clr>
        </p15:guide>
        <p15:guide id="8" orient="horz" pos="4178">
          <p15:clr>
            <a:srgbClr val="F26B43"/>
          </p15:clr>
        </p15:guide>
        <p15:guide id="9" pos="3727">
          <p15:clr>
            <a:srgbClr val="F26B43"/>
          </p15:clr>
        </p15:guide>
        <p15:guide id="10" pos="3953">
          <p15:clr>
            <a:srgbClr val="F26B43"/>
          </p15:clr>
        </p15:guide>
        <p15:guide id="11" pos="1912">
          <p15:clr>
            <a:srgbClr val="F26B43"/>
          </p15:clr>
        </p15:guide>
        <p15:guide id="12" pos="2139">
          <p15:clr>
            <a:srgbClr val="F26B43"/>
          </p15:clr>
        </p15:guide>
        <p15:guide id="13" pos="5541">
          <p15:clr>
            <a:srgbClr val="F26B43"/>
          </p15:clr>
        </p15:guide>
        <p15:guide id="14" pos="5768">
          <p15:clr>
            <a:srgbClr val="F26B43"/>
          </p15:clr>
        </p15:guide>
        <p15:guide id="15" pos="4067">
          <p15:clr>
            <a:srgbClr val="F26B43"/>
          </p15:clr>
        </p15:guide>
        <p15:guide id="16" orient="horz" pos="3861">
          <p15:clr>
            <a:srgbClr val="F26B43"/>
          </p15:clr>
        </p15:guide>
        <p15:guide id="17" orient="horz" pos="14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87ED5993-EAEF-BDD7-A93F-B744782E8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400" y="2572588"/>
            <a:ext cx="11125198" cy="4610849"/>
          </a:xfrm>
        </p:spPr>
        <p:txBody>
          <a:bodyPr/>
          <a:lstStyle/>
          <a:p>
            <a:pPr marL="0" indent="0">
              <a:buNone/>
            </a:pPr>
            <a:r>
              <a:rPr lang="en">
                <a:latin typeface="Segoe UI" panose="020B0502040204020203" pitchFamily="34" charset="0"/>
              </a:rPr>
              <a:t>Veera </a:t>
            </a:r>
            <a:r>
              <a:rPr lang="en" err="1">
                <a:latin typeface="Segoe UI" panose="020B0502040204020203" pitchFamily="34" charset="0"/>
              </a:rPr>
              <a:t>Saastamoinen</a:t>
            </a:r>
            <a:endParaRPr lang="en">
              <a:latin typeface="Segoe UI" panose="020B0502040204020203" pitchFamily="34" charset="0"/>
            </a:endParaRPr>
          </a:p>
          <a:p>
            <a:pPr marL="0" indent="0">
              <a:buNone/>
            </a:pPr>
            <a:r>
              <a:rPr lang="en">
                <a:latin typeface="Segoe UI" panose="020B0502040204020203" pitchFamily="34" charset="0"/>
              </a:rPr>
              <a:t>Research Assistant, Information and Knowledge Management Unit</a:t>
            </a:r>
          </a:p>
          <a:p>
            <a:pPr marL="0" indent="0">
              <a:buNone/>
            </a:pPr>
            <a:r>
              <a:rPr lang="en">
                <a:latin typeface="Segoe UI" panose="020B0502040204020203" pitchFamily="34" charset="0"/>
              </a:rPr>
              <a:t>University of Tampere</a:t>
            </a:r>
            <a:endParaRPr lang="fi-FI"/>
          </a:p>
        </p:txBody>
      </p:sp>
      <p:sp>
        <p:nvSpPr>
          <p:cNvPr id="3" name="Dian numeron paikkamerkki 2">
            <a:extLst>
              <a:ext uri="{FF2B5EF4-FFF2-40B4-BE49-F238E27FC236}">
                <a16:creationId xmlns:a16="http://schemas.microsoft.com/office/drawing/2014/main" id="{70E9317C-E51B-2047-6CA6-595443E5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</a:t>
            </a:fld>
            <a:endParaRPr lang="en-GB"/>
          </a:p>
        </p:txBody>
      </p:sp>
      <p:sp>
        <p:nvSpPr>
          <p:cNvPr id="4" name="Otsikko 3">
            <a:extLst>
              <a:ext uri="{FF2B5EF4-FFF2-40B4-BE49-F238E27FC236}">
                <a16:creationId xmlns:a16="http://schemas.microsoft.com/office/drawing/2014/main" id="{6AB7E857-A46A-3769-B968-D8E107DD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167471"/>
            <a:ext cx="11125200" cy="668517"/>
          </a:xfrm>
        </p:spPr>
        <p:txBody>
          <a:bodyPr>
            <a:noAutofit/>
          </a:bodyPr>
          <a:lstStyle/>
          <a:p>
            <a:r>
              <a:rPr lang="en" b="1" dirty="0">
                <a:latin typeface="Aptos Display" panose="020B0004020202020204" pitchFamily="34" charset="0"/>
              </a:rPr>
              <a:t>Successful adoption of GenAI from a knowledge management perspective</a:t>
            </a:r>
          </a:p>
        </p:txBody>
      </p:sp>
    </p:spTree>
    <p:extLst>
      <p:ext uri="{BB962C8B-B14F-4D97-AF65-F5344CB8AC3E}">
        <p14:creationId xmlns:p14="http://schemas.microsoft.com/office/powerpoint/2010/main" val="310815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2AD3CDD9-6049-71F9-184F-7E5654F45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7" y="1677588"/>
            <a:ext cx="11125198" cy="4610849"/>
          </a:xfrm>
        </p:spPr>
        <p:txBody>
          <a:bodyPr>
            <a:normAutofit/>
          </a:bodyPr>
          <a:lstStyle/>
          <a:p>
            <a:r>
              <a:rPr lang="fi-FI" sz="2000" dirty="0"/>
              <a:t>The canvas </a:t>
            </a:r>
            <a:r>
              <a:rPr lang="fi-FI" sz="2000" dirty="0" err="1"/>
              <a:t>was</a:t>
            </a:r>
            <a:r>
              <a:rPr lang="fi-FI" sz="2000" dirty="0"/>
              <a:t> made in </a:t>
            </a:r>
            <a:r>
              <a:rPr lang="fi-FI" sz="2000" dirty="0" err="1"/>
              <a:t>thesis</a:t>
            </a:r>
            <a:r>
              <a:rPr lang="fi-FI" sz="2000" dirty="0"/>
              <a:t>, </a:t>
            </a:r>
            <a:r>
              <a:rPr lang="fi-FI" sz="2000" dirty="0" err="1"/>
              <a:t>which</a:t>
            </a:r>
            <a:r>
              <a:rPr lang="fi-FI" sz="2000" dirty="0"/>
              <a:t> </a:t>
            </a:r>
            <a:r>
              <a:rPr lang="fi-FI" sz="2000" dirty="0" err="1"/>
              <a:t>examined</a:t>
            </a:r>
            <a:r>
              <a:rPr lang="fi-FI" sz="2000" dirty="0"/>
              <a:t> </a:t>
            </a:r>
            <a:r>
              <a:rPr lang="fi-FI" sz="2000" dirty="0" err="1"/>
              <a:t>suddessfull</a:t>
            </a:r>
            <a:r>
              <a:rPr lang="fi-FI" sz="2000" dirty="0"/>
              <a:t> GenAI adoption in </a:t>
            </a:r>
            <a:r>
              <a:rPr lang="fi-FI" sz="2000" dirty="0" err="1"/>
              <a:t>SMEs</a:t>
            </a:r>
            <a:r>
              <a:rPr lang="fi-FI" sz="2000" dirty="0"/>
              <a:t> from a knowledge management </a:t>
            </a:r>
            <a:r>
              <a:rPr lang="fi-FI" sz="2000" dirty="0" err="1"/>
              <a:t>perspective</a:t>
            </a:r>
            <a:endParaRPr lang="fi-FI" sz="2000" dirty="0"/>
          </a:p>
          <a:p>
            <a:r>
              <a:rPr lang="fi-FI" sz="2000" dirty="0"/>
              <a:t>The </a:t>
            </a:r>
            <a:r>
              <a:rPr lang="fi-FI" sz="2000" dirty="0" err="1"/>
              <a:t>study</a:t>
            </a:r>
            <a:r>
              <a:rPr lang="fi-FI" sz="2000" dirty="0"/>
              <a:t> used Design Science Research (DSR), and </a:t>
            </a:r>
            <a:r>
              <a:rPr lang="fi-FI" sz="2000" dirty="0" err="1"/>
              <a:t>created</a:t>
            </a:r>
            <a:r>
              <a:rPr lang="fi-FI" sz="2000" dirty="0"/>
              <a:t> the canvas as an artifact. The canvas is </a:t>
            </a:r>
            <a:r>
              <a:rPr lang="fi-FI" sz="2000" dirty="0" err="1"/>
              <a:t>based</a:t>
            </a:r>
            <a:r>
              <a:rPr lang="fi-FI" sz="2000" dirty="0"/>
              <a:t> on </a:t>
            </a:r>
            <a:r>
              <a:rPr lang="fi-FI" sz="2000" dirty="0" err="1"/>
              <a:t>literature</a:t>
            </a:r>
            <a:r>
              <a:rPr lang="fi-FI" sz="2000" dirty="0"/>
              <a:t>, and </a:t>
            </a:r>
            <a:r>
              <a:rPr lang="fi-FI" sz="2000" dirty="0" err="1"/>
              <a:t>was</a:t>
            </a:r>
            <a:r>
              <a:rPr lang="fi-FI" sz="2000" dirty="0"/>
              <a:t> developed further with </a:t>
            </a:r>
            <a:r>
              <a:rPr lang="fi-FI" sz="2000" dirty="0" err="1"/>
              <a:t>participating</a:t>
            </a:r>
            <a:r>
              <a:rPr lang="fi-FI" sz="2000" dirty="0"/>
              <a:t> </a:t>
            </a:r>
            <a:r>
              <a:rPr lang="fi-FI" sz="2000" dirty="0" err="1"/>
              <a:t>companies</a:t>
            </a:r>
            <a:endParaRPr lang="fi-FI" sz="2000" dirty="0"/>
          </a:p>
        </p:txBody>
      </p:sp>
      <p:sp>
        <p:nvSpPr>
          <p:cNvPr id="3" name="Dian numeron paikkamerkki 2">
            <a:extLst>
              <a:ext uri="{FF2B5EF4-FFF2-40B4-BE49-F238E27FC236}">
                <a16:creationId xmlns:a16="http://schemas.microsoft.com/office/drawing/2014/main" id="{A17F8F32-0907-3BCF-914B-1564374F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2</a:t>
            </a:fld>
            <a:endParaRPr lang="en-GB"/>
          </a:p>
        </p:txBody>
      </p:sp>
      <p:sp>
        <p:nvSpPr>
          <p:cNvPr id="4" name="Otsikko 3">
            <a:extLst>
              <a:ext uri="{FF2B5EF4-FFF2-40B4-BE49-F238E27FC236}">
                <a16:creationId xmlns:a16="http://schemas.microsoft.com/office/drawing/2014/main" id="{EA92A2A7-E158-5CDD-43E2-8B1FEFE65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46571"/>
            <a:ext cx="11125200" cy="668517"/>
          </a:xfrm>
        </p:spPr>
        <p:txBody>
          <a:bodyPr>
            <a:normAutofit fontScale="90000"/>
          </a:bodyPr>
          <a:lstStyle/>
          <a:p>
            <a:r>
              <a:rPr lang="fi-FI" dirty="0" err="1"/>
              <a:t>About</a:t>
            </a:r>
            <a:r>
              <a:rPr lang="fi-FI" dirty="0"/>
              <a:t> the </a:t>
            </a:r>
            <a:r>
              <a:rPr lang="fi-FI" dirty="0" err="1"/>
              <a:t>study</a:t>
            </a:r>
            <a:r>
              <a:rPr lang="fi-FI" dirty="0"/>
              <a:t>: </a:t>
            </a:r>
            <a:r>
              <a:rPr lang="fi-FI" dirty="0" err="1"/>
              <a:t>successful</a:t>
            </a:r>
            <a:r>
              <a:rPr lang="fi-FI" dirty="0"/>
              <a:t> adoption of GenAI from a knowledge management </a:t>
            </a:r>
            <a:r>
              <a:rPr lang="fi-FI" dirty="0" err="1"/>
              <a:t>perspective</a:t>
            </a:r>
            <a:r>
              <a:rPr lang="fi-FI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914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87ED5993-EAEF-BDD7-A93F-B744782E88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t"/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practical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structuring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addressing GenAI adoption </a:t>
            </a:r>
            <a:r>
              <a:rPr lang="fi-FI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a knowledge management </a:t>
            </a:r>
            <a:r>
              <a:rPr lang="fi-FI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perspective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fontAlgn="t"/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identification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different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implementation </a:t>
            </a:r>
            <a:r>
              <a:rPr lang="fi-FI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understanding the </a:t>
            </a:r>
            <a:r>
              <a:rPr lang="fi-FI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whole</a:t>
            </a:r>
            <a:r>
              <a:rPr lang="fi-FI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adoption</a:t>
            </a:r>
            <a:endParaRPr lang="fi-FI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structured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discussions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(e.g.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workshops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and shared understanding </a:t>
            </a:r>
          </a:p>
          <a:p>
            <a:pPr fontAlgn="t"/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decision-making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aligns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GenAI with organizational goals and strategy </a:t>
            </a:r>
          </a:p>
          <a:p>
            <a:pPr marL="0" indent="0" fontAlgn="t">
              <a:buNone/>
            </a:pPr>
            <a:endParaRPr lang="fi-FI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Canvas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 used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alone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structure adoption, or with support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assess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affecting</a:t>
            </a:r>
            <a:endParaRPr lang="fi-FI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organization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priorities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fi-FI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Address the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issues first,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ensuring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all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are considered over time</a:t>
            </a:r>
          </a:p>
          <a:p>
            <a:pPr fontAlgn="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upport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 used to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guide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reflection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deepen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understanding</a:t>
            </a: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t">
              <a:lnSpc>
                <a:spcPct val="170000"/>
              </a:lnSpc>
              <a:buNone/>
            </a:pPr>
            <a:endParaRPr lang="fi-FI" sz="43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i-FI" sz="240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3" name="Dian numeron paikkamerkki 2">
            <a:extLst>
              <a:ext uri="{FF2B5EF4-FFF2-40B4-BE49-F238E27FC236}">
                <a16:creationId xmlns:a16="http://schemas.microsoft.com/office/drawing/2014/main" id="{70E9317C-E51B-2047-6CA6-595443E5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3</a:t>
            </a:fld>
            <a:endParaRPr lang="en-GB"/>
          </a:p>
        </p:txBody>
      </p:sp>
      <p:sp>
        <p:nvSpPr>
          <p:cNvPr id="4" name="Otsikko 3">
            <a:extLst>
              <a:ext uri="{FF2B5EF4-FFF2-40B4-BE49-F238E27FC236}">
                <a16:creationId xmlns:a16="http://schemas.microsoft.com/office/drawing/2014/main" id="{6AB7E857-A46A-3769-B968-D8E107DD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446571"/>
            <a:ext cx="11125200" cy="668517"/>
          </a:xfrm>
        </p:spPr>
        <p:txBody>
          <a:bodyPr>
            <a:normAutofit/>
          </a:bodyPr>
          <a:lstStyle/>
          <a:p>
            <a:r>
              <a:rPr lang="en" sz="3600" b="1" dirty="0">
                <a:latin typeface="Aptos Display" panose="020B0004020202020204" pitchFamily="34" charset="0"/>
              </a:rPr>
              <a:t>Why use the canvas and how to use it</a:t>
            </a:r>
          </a:p>
        </p:txBody>
      </p:sp>
    </p:spTree>
    <p:extLst>
      <p:ext uri="{BB962C8B-B14F-4D97-AF65-F5344CB8AC3E}">
        <p14:creationId xmlns:p14="http://schemas.microsoft.com/office/powerpoint/2010/main" val="361865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98C6E2EF-954B-CEC6-26F9-F8FD5F01EC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t"/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Familiarize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yourself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with the canvas and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implementation the organization is </a:t>
            </a:r>
            <a:r>
              <a:rPr lang="fi-FI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currently</a:t>
            </a:r>
            <a:r>
              <a:rPr lang="fi-FI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</a:t>
            </a:r>
          </a:p>
          <a:p>
            <a:pPr lvl="1" fontAlgn="t"/>
            <a:r>
              <a:rPr lang="fi-FI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Processing the canvas </a:t>
            </a:r>
            <a:r>
              <a:rPr lang="fi-FI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lang="fi-FI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the </a:t>
            </a:r>
            <a:r>
              <a:rPr lang="fi-FI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fi-FI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lang="fi-FI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fi-FI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encompass</a:t>
            </a:r>
            <a:r>
              <a:rPr lang="fi-FI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all </a:t>
            </a:r>
            <a:r>
              <a:rPr lang="fi-FI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phases</a:t>
            </a:r>
            <a:r>
              <a:rPr lang="fi-FI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implementation</a:t>
            </a:r>
          </a:p>
          <a:p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the canvas and its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systematically</a:t>
            </a:r>
            <a:r>
              <a:rPr lang="fi-FI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i-FI" sz="2000">
                <a:latin typeface="Arial" panose="020B0604020202020204" pitchFamily="34" charset="0"/>
                <a:cs typeface="Arial" panose="020B0604020202020204" pitchFamily="34" charset="0"/>
              </a:rPr>
              <a:t>Consider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on the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to the organization</a:t>
            </a:r>
          </a:p>
          <a:p>
            <a:pPr lvl="1"/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Consider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how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currently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addressed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in the organization</a:t>
            </a:r>
          </a:p>
          <a:p>
            <a:pPr lvl="1"/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associated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support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Support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guide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deepen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the understanding of adoption </a:t>
            </a:r>
          </a:p>
          <a:p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of the canvas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be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processed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ensure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comprehensive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2000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 to GenAI adoption</a:t>
            </a:r>
          </a:p>
        </p:txBody>
      </p:sp>
      <p:sp>
        <p:nvSpPr>
          <p:cNvPr id="3" name="Dian numeron paikkamerkki 2">
            <a:extLst>
              <a:ext uri="{FF2B5EF4-FFF2-40B4-BE49-F238E27FC236}">
                <a16:creationId xmlns:a16="http://schemas.microsoft.com/office/drawing/2014/main" id="{0305797D-91E4-4DB4-0C2D-F84AB505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4</a:t>
            </a:fld>
            <a:endParaRPr lang="en-GB"/>
          </a:p>
        </p:txBody>
      </p:sp>
      <p:sp>
        <p:nvSpPr>
          <p:cNvPr id="4" name="Otsikko 3">
            <a:extLst>
              <a:ext uri="{FF2B5EF4-FFF2-40B4-BE49-F238E27FC236}">
                <a16:creationId xmlns:a16="http://schemas.microsoft.com/office/drawing/2014/main" id="{26F5078A-6F48-BCF6-2F00-5AC2950E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446571"/>
            <a:ext cx="11125200" cy="668517"/>
          </a:xfrm>
        </p:spPr>
        <p:txBody>
          <a:bodyPr/>
          <a:lstStyle/>
          <a:p>
            <a:r>
              <a:rPr lang="fi-FI" dirty="0"/>
              <a:t>How to use the canvas</a:t>
            </a:r>
          </a:p>
        </p:txBody>
      </p:sp>
    </p:spTree>
    <p:extLst>
      <p:ext uri="{BB962C8B-B14F-4D97-AF65-F5344CB8AC3E}">
        <p14:creationId xmlns:p14="http://schemas.microsoft.com/office/powerpoint/2010/main" val="388185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orakulmio 16">
            <a:extLst>
              <a:ext uri="{FF2B5EF4-FFF2-40B4-BE49-F238E27FC236}">
                <a16:creationId xmlns:a16="http://schemas.microsoft.com/office/drawing/2014/main" id="{18C116C0-6BFC-636B-9A91-F8FE64B10ED0}"/>
              </a:ext>
            </a:extLst>
          </p:cNvPr>
          <p:cNvSpPr/>
          <p:nvPr/>
        </p:nvSpPr>
        <p:spPr>
          <a:xfrm>
            <a:off x="1510580" y="6241781"/>
            <a:ext cx="3055867" cy="26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i-FI" sz="10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uva 2" descr="Kuva, joka sisältää kohteen teksti, kuvakaappaus, Fontti&#10;&#10;Kuvaus luotu automaattisesti">
            <a:extLst>
              <a:ext uri="{FF2B5EF4-FFF2-40B4-BE49-F238E27FC236}">
                <a16:creationId xmlns:a16="http://schemas.microsoft.com/office/drawing/2014/main" id="{1119C3FE-AD53-FA20-487C-4183036C16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76"/>
          <a:stretch/>
        </p:blipFill>
        <p:spPr>
          <a:xfrm>
            <a:off x="494886" y="294018"/>
            <a:ext cx="11202228" cy="572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yöristetty suorakulmio 11">
            <a:extLst>
              <a:ext uri="{FF2B5EF4-FFF2-40B4-BE49-F238E27FC236}">
                <a16:creationId xmlns:a16="http://schemas.microsoft.com/office/drawing/2014/main" id="{BCDB9855-E6C7-F300-0F26-DFACDA112B57}"/>
              </a:ext>
            </a:extLst>
          </p:cNvPr>
          <p:cNvSpPr/>
          <p:nvPr/>
        </p:nvSpPr>
        <p:spPr>
          <a:xfrm>
            <a:off x="222634" y="369794"/>
            <a:ext cx="11879782" cy="185454"/>
          </a:xfrm>
          <a:prstGeom prst="roundRect">
            <a:avLst/>
          </a:prstGeom>
          <a:solidFill>
            <a:srgbClr val="BB98E8">
              <a:alpha val="799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yöristetty suorakulmio 10">
            <a:extLst>
              <a:ext uri="{FF2B5EF4-FFF2-40B4-BE49-F238E27FC236}">
                <a16:creationId xmlns:a16="http://schemas.microsoft.com/office/drawing/2014/main" id="{AC7661D8-F598-857D-9593-093E2B9A99D9}"/>
              </a:ext>
            </a:extLst>
          </p:cNvPr>
          <p:cNvSpPr/>
          <p:nvPr/>
        </p:nvSpPr>
        <p:spPr>
          <a:xfrm>
            <a:off x="6455979" y="2604726"/>
            <a:ext cx="5646436" cy="3333490"/>
          </a:xfrm>
          <a:prstGeom prst="roundRect">
            <a:avLst>
              <a:gd name="adj" fmla="val 4102"/>
            </a:avLst>
          </a:prstGeom>
          <a:solidFill>
            <a:srgbClr val="B4C7E7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quality and quantity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data quality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security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biggest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 been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AI and charasteristics of AI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AI technology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used to achieve the goals?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management understand the principles of GenAI and its key features?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employees understand the principles of GenAI and its key features?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of data</a:t>
            </a:r>
          </a:p>
          <a:p>
            <a:pPr marL="316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is the data collected from?</a:t>
            </a:r>
          </a:p>
          <a:p>
            <a:pPr marL="316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data in the correct format/structured in the desired format?</a:t>
            </a:r>
          </a:p>
          <a:p>
            <a:pPr marL="316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data is transferred and shared with people?</a:t>
            </a:r>
          </a:p>
          <a:p>
            <a:pPr marL="172800" lvl="1" indent="-1728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Suitability of technology and its alignment with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humans</a:t>
            </a:r>
            <a:endParaRPr lang="fi-FI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technologies 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the alternatives been studied and their suitability assessed?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chosen technology compatible with other technologies?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technology to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users in the organization?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does the technology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the users'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working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level?</a:t>
            </a:r>
          </a:p>
        </p:txBody>
      </p:sp>
      <p:sp>
        <p:nvSpPr>
          <p:cNvPr id="10" name="Pyöristetty suorakulmio 9">
            <a:extLst>
              <a:ext uri="{FF2B5EF4-FFF2-40B4-BE49-F238E27FC236}">
                <a16:creationId xmlns:a16="http://schemas.microsoft.com/office/drawing/2014/main" id="{569B9329-66E6-21D3-32D7-4267BCB8977B}"/>
              </a:ext>
            </a:extLst>
          </p:cNvPr>
          <p:cNvSpPr/>
          <p:nvPr/>
        </p:nvSpPr>
        <p:spPr>
          <a:xfrm>
            <a:off x="6455979" y="1162858"/>
            <a:ext cx="5646436" cy="1427009"/>
          </a:xfrm>
          <a:prstGeom prst="roundRect">
            <a:avLst>
              <a:gd name="adj" fmla="val 4102"/>
            </a:avLst>
          </a:prstGeom>
          <a:solidFill>
            <a:srgbClr val="C5E0B4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acceptance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business performance evaluation</a:t>
            </a:r>
          </a:p>
          <a:p>
            <a:pPr marL="316800" indent="-1714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business performance evaluated during pre-implementation?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and pilot project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GenAI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 minimum valuable product or pilot project been 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be done?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 and other resources allocated for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AI-teams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teams responsible for AI, 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such be formed?</a:t>
            </a:r>
          </a:p>
        </p:txBody>
      </p:sp>
      <p:sp>
        <p:nvSpPr>
          <p:cNvPr id="9" name="Pyöristetty suorakulmio 8">
            <a:extLst>
              <a:ext uri="{FF2B5EF4-FFF2-40B4-BE49-F238E27FC236}">
                <a16:creationId xmlns:a16="http://schemas.microsoft.com/office/drawing/2014/main" id="{6C9E325F-8615-1937-126D-FD5641EE9859}"/>
              </a:ext>
            </a:extLst>
          </p:cNvPr>
          <p:cNvSpPr/>
          <p:nvPr/>
        </p:nvSpPr>
        <p:spPr>
          <a:xfrm>
            <a:off x="6455979" y="585356"/>
            <a:ext cx="5646436" cy="547394"/>
          </a:xfrm>
          <a:prstGeom prst="roundRect">
            <a:avLst>
              <a:gd name="adj" fmla="val 4102"/>
            </a:avLst>
          </a:prstGeom>
          <a:solidFill>
            <a:srgbClr val="F8CBAD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en-US" sz="1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Maturity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is the organization’s current level of AI readiness and maturity?</a:t>
            </a:r>
            <a:endParaRPr lang="fi-FI" sz="10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existing capabilities does the organization have?</a:t>
            </a:r>
          </a:p>
        </p:txBody>
      </p:sp>
      <p:sp>
        <p:nvSpPr>
          <p:cNvPr id="8" name="Pyöristetty suorakulmio 7">
            <a:extLst>
              <a:ext uri="{FF2B5EF4-FFF2-40B4-BE49-F238E27FC236}">
                <a16:creationId xmlns:a16="http://schemas.microsoft.com/office/drawing/2014/main" id="{07062F5D-0422-D323-DDEB-551EE1D576E7}"/>
              </a:ext>
            </a:extLst>
          </p:cNvPr>
          <p:cNvSpPr/>
          <p:nvPr/>
        </p:nvSpPr>
        <p:spPr>
          <a:xfrm>
            <a:off x="222634" y="3661999"/>
            <a:ext cx="6012628" cy="2446193"/>
          </a:xfrm>
          <a:prstGeom prst="roundRect">
            <a:avLst>
              <a:gd name="adj" fmla="val 4102"/>
            </a:avLst>
          </a:prstGeom>
          <a:solidFill>
            <a:srgbClr val="F8CBAD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</a:t>
            </a:r>
          </a:p>
          <a:p>
            <a:pPr marL="316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organizational culture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316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organizational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culture's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readiness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change? </a:t>
            </a:r>
          </a:p>
          <a:p>
            <a:pPr marL="316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 managed?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Lifecycle of AI</a:t>
            </a:r>
          </a:p>
          <a:p>
            <a:pPr marL="316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organization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development of AI?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resources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 organization's financial resources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support GenAI-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metrics for monitoring succes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strategy for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management? 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identified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AI strategy, is it included as part of another strategy, or have guidelines been developed for the use of AI?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will the use of GenAI and its success be monitored and measured at different stages of implementation?</a:t>
            </a:r>
          </a:p>
        </p:txBody>
      </p:sp>
      <p:sp>
        <p:nvSpPr>
          <p:cNvPr id="7" name="Pyöristetty suorakulmio 6">
            <a:extLst>
              <a:ext uri="{FF2B5EF4-FFF2-40B4-BE49-F238E27FC236}">
                <a16:creationId xmlns:a16="http://schemas.microsoft.com/office/drawing/2014/main" id="{EE67EE9A-EC6F-670D-41A6-2B7214A4CD66}"/>
              </a:ext>
            </a:extLst>
          </p:cNvPr>
          <p:cNvSpPr/>
          <p:nvPr/>
        </p:nvSpPr>
        <p:spPr>
          <a:xfrm>
            <a:off x="222634" y="586854"/>
            <a:ext cx="6012628" cy="3054980"/>
          </a:xfrm>
          <a:prstGeom prst="roundRect">
            <a:avLst>
              <a:gd name="adj" fmla="val 4102"/>
            </a:avLst>
          </a:prstGeom>
          <a:solidFill>
            <a:srgbClr val="FFE699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management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change management been planned and prepared for?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employees' fears and concerns managed/considered in change management?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pPr marL="460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all employees trained in understanding,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securing GenAI?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endParaRPr lang="fi-FI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0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change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openly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employees from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460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 and resources allocated for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 story</a:t>
            </a:r>
          </a:p>
          <a:p>
            <a:pPr marL="460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any success stories that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used in change management?</a:t>
            </a:r>
          </a:p>
          <a:p>
            <a:pPr marL="460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employees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their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success stories?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users</a:t>
            </a:r>
          </a:p>
          <a:p>
            <a:pPr marL="460800" lvl="1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 management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internally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implementation?</a:t>
            </a:r>
          </a:p>
          <a:p>
            <a:pPr marL="17280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knowledge creation and transfer with employees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the creation and transfer of knowledge with people ensured within the organization?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shared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GenAI 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suitable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2800" indent="-172800">
              <a:lnSpc>
                <a:spcPct val="100000"/>
              </a:lnSpc>
              <a:spcBef>
                <a:spcPts val="0"/>
              </a:spcBef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learning</a:t>
            </a: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employee learning and knowledge internalization supported during AI adoption?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CEE5E15-FBA7-FC3B-A7D2-28CCF96B4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634" y="161316"/>
            <a:ext cx="6012628" cy="185454"/>
          </a:xfrm>
        </p:spPr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Pre-implementation support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fi-FI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4000" indent="0">
              <a:lnSpc>
                <a:spcPct val="100000"/>
              </a:lnSpc>
              <a:spcBef>
                <a:spcPts val="0"/>
              </a:spcBef>
              <a:buNone/>
            </a:pPr>
            <a:endParaRPr lang="fi-FI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i-FI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800" indent="-1728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i-FI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535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i-FI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i-FI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i-FI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0C25D436-1592-63EE-3FC1-26FBFE2D96EF}"/>
              </a:ext>
            </a:extLst>
          </p:cNvPr>
          <p:cNvSpPr txBox="1"/>
          <p:nvPr/>
        </p:nvSpPr>
        <p:spPr>
          <a:xfrm>
            <a:off x="222633" y="323746"/>
            <a:ext cx="103333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What is the organization's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 GenAI? 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intended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to be achieved with GenAI?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is GenAI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being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implemented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fi-FI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72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yöristetty suorakulmio 9">
            <a:extLst>
              <a:ext uri="{FF2B5EF4-FFF2-40B4-BE49-F238E27FC236}">
                <a16:creationId xmlns:a16="http://schemas.microsoft.com/office/drawing/2014/main" id="{53A7C138-6F51-A94B-3E31-6D50B79E0F79}"/>
              </a:ext>
            </a:extLst>
          </p:cNvPr>
          <p:cNvSpPr/>
          <p:nvPr/>
        </p:nvSpPr>
        <p:spPr>
          <a:xfrm>
            <a:off x="222634" y="369794"/>
            <a:ext cx="11879782" cy="185454"/>
          </a:xfrm>
          <a:prstGeom prst="roundRect">
            <a:avLst/>
          </a:prstGeom>
          <a:solidFill>
            <a:srgbClr val="BB98E8">
              <a:alpha val="799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yöristetty suorakulmio 10">
            <a:extLst>
              <a:ext uri="{FF2B5EF4-FFF2-40B4-BE49-F238E27FC236}">
                <a16:creationId xmlns:a16="http://schemas.microsoft.com/office/drawing/2014/main" id="{EB77A221-23F2-A144-857B-1F2505E27758}"/>
              </a:ext>
            </a:extLst>
          </p:cNvPr>
          <p:cNvSpPr/>
          <p:nvPr/>
        </p:nvSpPr>
        <p:spPr>
          <a:xfrm>
            <a:off x="6455979" y="3721186"/>
            <a:ext cx="5646437" cy="2128188"/>
          </a:xfrm>
          <a:prstGeom prst="roundRect">
            <a:avLst>
              <a:gd name="adj" fmla="val 4102"/>
            </a:avLst>
          </a:prstGeom>
          <a:solidFill>
            <a:srgbClr val="B4C7E7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quality and quantity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data quality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security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biggest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security?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 been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fi-FI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infrastructure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infrastructure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support 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infrastructure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upgrades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to be used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data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used?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dedicated software and hardware 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dedicated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8" name="Pyöristetty suorakulmio 7">
            <a:extLst>
              <a:ext uri="{FF2B5EF4-FFF2-40B4-BE49-F238E27FC236}">
                <a16:creationId xmlns:a16="http://schemas.microsoft.com/office/drawing/2014/main" id="{69B7A07E-3AB4-6983-F6B7-531A05DC78B8}"/>
              </a:ext>
            </a:extLst>
          </p:cNvPr>
          <p:cNvSpPr/>
          <p:nvPr/>
        </p:nvSpPr>
        <p:spPr>
          <a:xfrm>
            <a:off x="6455979" y="2690098"/>
            <a:ext cx="5646436" cy="977679"/>
          </a:xfrm>
          <a:prstGeom prst="roundRect">
            <a:avLst>
              <a:gd name="adj" fmla="val 4102"/>
            </a:avLst>
          </a:prstGeom>
          <a:solidFill>
            <a:srgbClr val="C5E0B4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acceptance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business performance evaluation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business performance evaluated during implementation?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training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stakeholder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</a:t>
            </a:r>
            <a:endParaRPr lang="fi-FI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stakeholders be trained on GenAI?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cooperation with stakeholders change with implementation?</a:t>
            </a:r>
          </a:p>
        </p:txBody>
      </p:sp>
      <p:sp>
        <p:nvSpPr>
          <p:cNvPr id="7" name="Pyöristetty suorakulmio 6">
            <a:extLst>
              <a:ext uri="{FF2B5EF4-FFF2-40B4-BE49-F238E27FC236}">
                <a16:creationId xmlns:a16="http://schemas.microsoft.com/office/drawing/2014/main" id="{49546BB5-4F4B-7695-5922-753FE5219DD0}"/>
              </a:ext>
            </a:extLst>
          </p:cNvPr>
          <p:cNvSpPr/>
          <p:nvPr/>
        </p:nvSpPr>
        <p:spPr>
          <a:xfrm>
            <a:off x="6455980" y="619182"/>
            <a:ext cx="5646435" cy="2001666"/>
          </a:xfrm>
          <a:prstGeom prst="roundRect">
            <a:avLst>
              <a:gd name="adj" fmla="val 4102"/>
            </a:avLst>
          </a:prstGeom>
          <a:solidFill>
            <a:srgbClr val="F8CBAD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</a:t>
            </a:r>
          </a:p>
          <a:p>
            <a:pPr marL="316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organizational culture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316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organizational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culture's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readiness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change? </a:t>
            </a:r>
          </a:p>
          <a:p>
            <a:pPr marL="316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 managed?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Lifecycle of AI</a:t>
            </a:r>
          </a:p>
          <a:p>
            <a:pPr marL="316800" lvl="1" indent="-17280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the lifecycle of 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it?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resources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 organization's financial resources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support GenAI-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Ethics issues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ethical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could arise from the use of this GenAI-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developed metrics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developed metrics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used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how?</a:t>
            </a:r>
          </a:p>
        </p:txBody>
      </p:sp>
      <p:sp>
        <p:nvSpPr>
          <p:cNvPr id="5" name="Pyöristetty suorakulmio 4">
            <a:extLst>
              <a:ext uri="{FF2B5EF4-FFF2-40B4-BE49-F238E27FC236}">
                <a16:creationId xmlns:a16="http://schemas.microsoft.com/office/drawing/2014/main" id="{3A0BEB8F-EAFB-0939-78FC-3178771FD2CA}"/>
              </a:ext>
            </a:extLst>
          </p:cNvPr>
          <p:cNvSpPr/>
          <p:nvPr/>
        </p:nvSpPr>
        <p:spPr>
          <a:xfrm>
            <a:off x="170864" y="631404"/>
            <a:ext cx="6106492" cy="3956987"/>
          </a:xfrm>
          <a:prstGeom prst="roundRect">
            <a:avLst>
              <a:gd name="adj" fmla="val 4102"/>
            </a:avLst>
          </a:prstGeom>
          <a:solidFill>
            <a:srgbClr val="FFE699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management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change management been planned and prepared for?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employees' fears and concerns managed/considered in change management?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all employees trained in understanding,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securing GenAI?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endParaRPr lang="fi-FI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change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openly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employees from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 and resources allocated for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 story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any success stories that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used in change management?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employees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their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success stories?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users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 management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internally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implementation? </a:t>
            </a:r>
          </a:p>
          <a:p>
            <a:pPr marL="17280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knowledge creation and transfer with employees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the creation and transfer of knowledge between people ensured within the organization?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learning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employee learning and knowledge internalization supported during AI adoption (e.g. addressing knowledge internalization)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employees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trained employees?</a:t>
            </a:r>
          </a:p>
          <a:p>
            <a:pPr marL="316800" indent="-17145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management have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skills and knowledge?</a:t>
            </a:r>
          </a:p>
          <a:p>
            <a:pPr marL="17280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management support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support from management for the implementation?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CD44B6A5-BCFC-948E-3122-F0A03425F1E2}"/>
              </a:ext>
            </a:extLst>
          </p:cNvPr>
          <p:cNvSpPr txBox="1"/>
          <p:nvPr/>
        </p:nvSpPr>
        <p:spPr>
          <a:xfrm>
            <a:off x="222634" y="331716"/>
            <a:ext cx="103333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What is the organization's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 GenAI? 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intended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to be achieved with GenAI?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is GenAI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being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implemented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fi-FI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DFC52E76-A4B6-2E22-5B47-6FD45CDFBDA7}"/>
              </a:ext>
            </a:extLst>
          </p:cNvPr>
          <p:cNvSpPr txBox="1"/>
          <p:nvPr/>
        </p:nvSpPr>
        <p:spPr>
          <a:xfrm>
            <a:off x="177894" y="118309"/>
            <a:ext cx="60994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support </a:t>
            </a:r>
            <a:r>
              <a:rPr lang="fi-FI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fi-FI" sz="1100" dirty="0"/>
          </a:p>
        </p:txBody>
      </p:sp>
    </p:spTree>
    <p:extLst>
      <p:ext uri="{BB962C8B-B14F-4D97-AF65-F5344CB8AC3E}">
        <p14:creationId xmlns:p14="http://schemas.microsoft.com/office/powerpoint/2010/main" val="85585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yöristetty suorakulmio 9">
            <a:extLst>
              <a:ext uri="{FF2B5EF4-FFF2-40B4-BE49-F238E27FC236}">
                <a16:creationId xmlns:a16="http://schemas.microsoft.com/office/drawing/2014/main" id="{D4C4EFD2-F259-2B4E-9744-E03817D62D08}"/>
              </a:ext>
            </a:extLst>
          </p:cNvPr>
          <p:cNvSpPr/>
          <p:nvPr/>
        </p:nvSpPr>
        <p:spPr>
          <a:xfrm>
            <a:off x="222634" y="369794"/>
            <a:ext cx="11879782" cy="185454"/>
          </a:xfrm>
          <a:prstGeom prst="roundRect">
            <a:avLst/>
          </a:prstGeom>
          <a:solidFill>
            <a:srgbClr val="BB98E8">
              <a:alpha val="799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yöristetty suorakulmio 6">
            <a:extLst>
              <a:ext uri="{FF2B5EF4-FFF2-40B4-BE49-F238E27FC236}">
                <a16:creationId xmlns:a16="http://schemas.microsoft.com/office/drawing/2014/main" id="{612F0F2C-AA61-DCBD-6E39-E1572C18D4B6}"/>
              </a:ext>
            </a:extLst>
          </p:cNvPr>
          <p:cNvSpPr/>
          <p:nvPr/>
        </p:nvSpPr>
        <p:spPr>
          <a:xfrm>
            <a:off x="6454184" y="3797323"/>
            <a:ext cx="5646436" cy="2169712"/>
          </a:xfrm>
          <a:prstGeom prst="roundRect">
            <a:avLst>
              <a:gd name="adj" fmla="val 4102"/>
            </a:avLst>
          </a:prstGeom>
          <a:solidFill>
            <a:srgbClr val="B4C7E7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quality and quantity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data quality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security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biggest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security?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 been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the use of technology and its success measured?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evolution</a:t>
            </a:r>
          </a:p>
          <a:p>
            <a:pPr marL="316800" indent="-17145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the technology of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hallucinations</a:t>
            </a:r>
          </a:p>
          <a:p>
            <a:pPr marL="316800" lvl="1" indent="-17145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GenAI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hallucinations? </a:t>
            </a:r>
          </a:p>
          <a:p>
            <a:pPr marL="316800" lvl="1" indent="-17145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employees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recognize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hallucinations?</a:t>
            </a:r>
          </a:p>
        </p:txBody>
      </p:sp>
      <p:sp>
        <p:nvSpPr>
          <p:cNvPr id="6" name="Pyöristetty suorakulmio 5">
            <a:extLst>
              <a:ext uri="{FF2B5EF4-FFF2-40B4-BE49-F238E27FC236}">
                <a16:creationId xmlns:a16="http://schemas.microsoft.com/office/drawing/2014/main" id="{9026E786-E183-8D72-C4DC-4AB09988D521}"/>
              </a:ext>
            </a:extLst>
          </p:cNvPr>
          <p:cNvSpPr/>
          <p:nvPr/>
        </p:nvSpPr>
        <p:spPr>
          <a:xfrm>
            <a:off x="6454184" y="2645179"/>
            <a:ext cx="5646436" cy="1118171"/>
          </a:xfrm>
          <a:prstGeom prst="roundRect">
            <a:avLst>
              <a:gd name="adj" fmla="val 4102"/>
            </a:avLst>
          </a:prstGeom>
          <a:solidFill>
            <a:srgbClr val="C5E0B4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acceptance</a:t>
            </a:r>
            <a:endParaRPr lang="fi-FI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business performance evaluation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business performance evaluated during post-implementation?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gathering and feedback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development</a:t>
            </a:r>
          </a:p>
          <a:p>
            <a:pPr marL="316800" lvl="1" indent="-17145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feedback be collected from users to support the development of GenAI?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GenAI-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16800" lvl="1" indent="-171450"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GenAI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used?</a:t>
            </a:r>
          </a:p>
        </p:txBody>
      </p:sp>
      <p:sp>
        <p:nvSpPr>
          <p:cNvPr id="5" name="Pyöristetty suorakulmio 4">
            <a:extLst>
              <a:ext uri="{FF2B5EF4-FFF2-40B4-BE49-F238E27FC236}">
                <a16:creationId xmlns:a16="http://schemas.microsoft.com/office/drawing/2014/main" id="{5D4F9DBE-40BC-59CD-6BE5-E0EDE186D235}"/>
              </a:ext>
            </a:extLst>
          </p:cNvPr>
          <p:cNvSpPr/>
          <p:nvPr/>
        </p:nvSpPr>
        <p:spPr>
          <a:xfrm>
            <a:off x="6454184" y="631404"/>
            <a:ext cx="5646437" cy="1979802"/>
          </a:xfrm>
          <a:prstGeom prst="roundRect">
            <a:avLst>
              <a:gd name="adj" fmla="val 4102"/>
            </a:avLst>
          </a:prstGeom>
          <a:solidFill>
            <a:srgbClr val="F8CBAD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</a:t>
            </a:r>
          </a:p>
          <a:p>
            <a:pPr marL="316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organizational culture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316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organizational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culture's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readiness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change? </a:t>
            </a:r>
          </a:p>
          <a:p>
            <a:pPr marL="316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 managed?</a:t>
            </a: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Lifecycle of AI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organization prepared for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lifecycle of AI?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GenAI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further developed without restarting the work?</a:t>
            </a:r>
            <a:endParaRPr lang="fi-FI" sz="1000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2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resources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 organization's financial resources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support GenAI-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developed metrics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metrics are used to evaluate the success of the GenAI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the impacts of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GenAI monitored and controlled?</a:t>
            </a:r>
            <a:endParaRPr lang="fi-FI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yöristetty suorakulmio 3">
            <a:extLst>
              <a:ext uri="{FF2B5EF4-FFF2-40B4-BE49-F238E27FC236}">
                <a16:creationId xmlns:a16="http://schemas.microsoft.com/office/drawing/2014/main" id="{92CBDB36-5E8D-7002-D0DD-4CC0CE313792}"/>
              </a:ext>
            </a:extLst>
          </p:cNvPr>
          <p:cNvSpPr/>
          <p:nvPr/>
        </p:nvSpPr>
        <p:spPr>
          <a:xfrm>
            <a:off x="219044" y="633092"/>
            <a:ext cx="6096833" cy="3383687"/>
          </a:xfrm>
          <a:prstGeom prst="roundRect">
            <a:avLst>
              <a:gd name="adj" fmla="val 4102"/>
            </a:avLst>
          </a:prstGeom>
          <a:solidFill>
            <a:srgbClr val="FFE699">
              <a:alpha val="793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fi-FI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management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change management been planned and prepared for?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employees' fears and concerns managed/considered in change management?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all employees trained in understanding,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securing GenAI?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endParaRPr lang="fi-FI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change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openly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employees from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 and resources allocated for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 story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any success stories that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used in change management?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employees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their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success stories?</a:t>
            </a:r>
          </a:p>
          <a:p>
            <a:pPr marL="316800" indent="-172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users</a:t>
            </a:r>
          </a:p>
          <a:p>
            <a:pPr marL="460800" lvl="1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 management and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internally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implementation? </a:t>
            </a:r>
          </a:p>
          <a:p>
            <a:pPr marL="17280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knowledge creation and transfer with employees</a:t>
            </a:r>
          </a:p>
          <a:p>
            <a:pPr marL="316800" indent="-172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the creation and transfer of knowledge between people ensured within the organization?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need to address real life challenges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training address to real life challenges (e.g. cross checking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280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endParaRPr lang="fi-FI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users'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the GenAI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affected</a:t>
            </a:r>
            <a:r>
              <a:rPr lang="fi-FI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users' work?</a:t>
            </a: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49F253B6-3914-6D3E-AE1C-ED2C10AF540D}"/>
              </a:ext>
            </a:extLst>
          </p:cNvPr>
          <p:cNvSpPr txBox="1"/>
          <p:nvPr/>
        </p:nvSpPr>
        <p:spPr>
          <a:xfrm>
            <a:off x="262677" y="120377"/>
            <a:ext cx="12109990" cy="43088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Post-implementation support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fi-FI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i-FI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800" indent="-17145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i-FI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A2B7C638-87F4-D62A-E258-685D773EDDC7}"/>
              </a:ext>
            </a:extLst>
          </p:cNvPr>
          <p:cNvSpPr txBox="1"/>
          <p:nvPr/>
        </p:nvSpPr>
        <p:spPr>
          <a:xfrm>
            <a:off x="245324" y="315912"/>
            <a:ext cx="103333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What is the organization's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i-FI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i-FI" sz="1100" b="1" dirty="0">
                <a:latin typeface="Arial" panose="020B0604020202020204" pitchFamily="34" charset="0"/>
                <a:cs typeface="Arial" panose="020B0604020202020204" pitchFamily="34" charset="0"/>
              </a:rPr>
              <a:t> GenAI? 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intended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to be achieved with GenAI?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is GenAI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being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00" dirty="0" err="1">
                <a:latin typeface="Arial" panose="020B0604020202020204" pitchFamily="34" charset="0"/>
                <a:cs typeface="Arial" panose="020B0604020202020204" pitchFamily="34" charset="0"/>
              </a:rPr>
              <a:t>implemented</a:t>
            </a:r>
            <a:r>
              <a:rPr lang="fi-FI" sz="11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fi-FI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50575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1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9C2"/>
      </a:accent1>
      <a:accent2>
        <a:srgbClr val="8BADDC"/>
      </a:accent2>
      <a:accent3>
        <a:srgbClr val="00AACD"/>
      </a:accent3>
      <a:accent4>
        <a:srgbClr val="CAD510"/>
      </a:accent4>
      <a:accent5>
        <a:srgbClr val="99C879"/>
      </a:accent5>
      <a:accent6>
        <a:srgbClr val="FBB900"/>
      </a:accent6>
      <a:hlink>
        <a:srgbClr val="DF006E"/>
      </a:hlink>
      <a:folHlink>
        <a:srgbClr val="888B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aga_Helia_PPT2020_simplified_FINAL.pptx" id="{F8AF45FA-2485-4975-9724-BCA7566B273D}" vid="{5C7E5427-9A9C-4C31-9507-78515B0EAB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637C7E7AB6AB894987CF398648DBC836" ma:contentTypeVersion="13" ma:contentTypeDescription="Luo uusi asiakirja." ma:contentTypeScope="" ma:versionID="5362cabded966db925259f98fa90a691">
  <xsd:schema xmlns:xsd="http://www.w3.org/2001/XMLSchema" xmlns:xs="http://www.w3.org/2001/XMLSchema" xmlns:p="http://schemas.microsoft.com/office/2006/metadata/properties" xmlns:ns2="821c299e-90c1-4fd0-bc6e-dedd7030ac76" xmlns:ns3="2e70be20-d9ef-4e8b-907b-980451580b60" targetNamespace="http://schemas.microsoft.com/office/2006/metadata/properties" ma:root="true" ma:fieldsID="87e1906b977e26a8e3211b0413f2ea88" ns2:_="" ns3:_="">
    <xsd:import namespace="821c299e-90c1-4fd0-bc6e-dedd7030ac76"/>
    <xsd:import namespace="2e70be20-d9ef-4e8b-907b-980451580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1c299e-90c1-4fd0-bc6e-dedd7030ac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Kuvien tunnisteet" ma:readOnly="false" ma:fieldId="{5cf76f15-5ced-4ddc-b409-7134ff3c332f}" ma:taxonomyMulti="true" ma:sspId="b840f101-7d04-46f0-beee-8e35b8c16e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70be20-d9ef-4e8b-907b-980451580b6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1ad07f-4a67-4bee-b900-08b771dcff08}" ma:internalName="TaxCatchAll" ma:showField="CatchAllData" ma:web="2e70be20-d9ef-4e8b-907b-980451580b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21c299e-90c1-4fd0-bc6e-dedd7030ac76">
      <Terms xmlns="http://schemas.microsoft.com/office/infopath/2007/PartnerControls"/>
    </lcf76f155ced4ddcb4097134ff3c332f>
    <TaxCatchAll xmlns="2e70be20-d9ef-4e8b-907b-980451580b60" xsi:nil="true"/>
  </documentManagement>
</p:properties>
</file>

<file path=customXml/itemProps1.xml><?xml version="1.0" encoding="utf-8"?>
<ds:datastoreItem xmlns:ds="http://schemas.openxmlformats.org/officeDocument/2006/customXml" ds:itemID="{C3D557C7-18FA-4647-8E76-91C4EFB3B9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F00F34-DE8A-468E-B9A1-E4A7FD6A0CFA}"/>
</file>

<file path=customXml/itemProps3.xml><?xml version="1.0" encoding="utf-8"?>
<ds:datastoreItem xmlns:ds="http://schemas.openxmlformats.org/officeDocument/2006/customXml" ds:itemID="{64F317B9-16E2-46CE-966E-BB48EA8CE935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elements/1.1/"/>
    <ds:schemaRef ds:uri="95f5c562-dc22-48f7-ad6e-be4b78b5889f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65a8d288-7bd3-4e12-abcb-9c643d6510fe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4814fa1-1a0b-42d1-967a-caddbf829325}" enabled="1" method="Privileged" siteId="{fa6944af-cc7c-4cd8-9154-c011327989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1693</Words>
  <Application>Microsoft Office PowerPoint</Application>
  <PresentationFormat>Widescreen</PresentationFormat>
  <Paragraphs>223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Segoe UI</vt:lpstr>
      <vt:lpstr>Wingdings</vt:lpstr>
      <vt:lpstr>2_Office Theme</vt:lpstr>
      <vt:lpstr>Successful adoption of GenAI from a knowledge management perspective</vt:lpstr>
      <vt:lpstr>About the study: successful adoption of GenAI from a knowledge management perspective </vt:lpstr>
      <vt:lpstr>Why use the canvas and how to use it</vt:lpstr>
      <vt:lpstr>How to use the canvas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PowerPoint-esitys</dc:title>
  <cp:lastModifiedBy>Jussi Myllärniemi (TAU)</cp:lastModifiedBy>
  <cp:revision>10</cp:revision>
  <dcterms:modified xsi:type="dcterms:W3CDTF">2026-06-10T13:46:34Z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0x010100637C7E7AB6AB894987CF398648DBC836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Office Theme:7\2_Office Theme:5</vt:lpwstr>
  </property>
  <property fmtid="{D5CDD505-2E9C-101B-9397-08002B2CF9AE}" pid="5" name="ClassificationContentMarkingHeaderText">
    <vt:lpwstr>TUNI Luottamuksellinen - Confidential (3Y)</vt:lpwstr>
  </property>
</Properties>
</file>