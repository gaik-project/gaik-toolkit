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C942-B8B6-2D3A-EAD1-7294DD5D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97584-A77D-F95A-BE75-4C6B66D54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40D88-B8C1-61A3-4F70-2F24B419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CB54-5DFC-AE75-8490-51633105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A7EC2-BC98-97B1-82CE-00BC987A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4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EB9B2-39CF-AE11-6C7E-ABD882D4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2EDE-3552-6716-A60F-2ADA20B46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2CE0-B610-B9C5-4D30-B79D92DF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266E9-D581-E185-4609-5E727C18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7A07-4EDE-726F-51E9-509A0FD1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1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450D-4E02-BDF6-8687-02FDD15B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A9B43-4FD6-A4D0-6FC4-DFC4D98E1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CFAFC-2EEF-6FF8-D4E2-9463FE0F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FF38-5516-9D67-FA7B-9472CC238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2C4CC-D27F-5878-19B2-F360207C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1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117F-2AE5-6B64-C615-D2401C0D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9CF58-84E5-27CC-F58E-BC549B4E4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32783-2655-7E5E-B076-3936BAF41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30297-BBCA-8293-936A-91DBC0C0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AA751-DCE5-611F-9C82-34C50B00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48377-2ED1-15B0-ACE3-D732B78F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7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8114-D8B2-57E6-11D6-7B171CE8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129A6-DA0D-8AC0-0C7D-6FBD02694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AABAB-B14D-AEDD-D57F-8225A5032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0F33D-CC68-421C-1E7A-0E6C989EB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86EBF-00FB-CCED-A59D-EFA4B404E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9FCC9-E0F3-EE2A-354A-B9885FCB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6B761F-ED01-5B31-4F7E-CC91F447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429E8-9257-6C05-34DA-8F7E8561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424A-A03E-F0D3-8076-A3CA3D55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2DD40-4452-F4F1-15C4-6FBE7298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E411E-900C-3707-4636-9F883271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1D1B0-CE7B-E2CB-8E5A-0C560B79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1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C3271-CCBC-83BE-9F83-3ABD76D5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C1A5B-B09D-FFA7-13F3-EE3D9662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D361-40B9-D868-0D9D-0775655F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6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7B61-BA2D-CD9D-5253-2D8B407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1FBF-2334-364E-111F-FB660D22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9B5FA-3CF0-EB72-C7CD-51ED12B41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1E034-0C11-24F5-9053-CA2D2070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1A3F0-141D-476B-1FEF-20A3BB37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5F3C-2DE5-24F9-D0BD-A56D8CD0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E76F-D306-3C95-FD63-65947DA8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07D4A-E9E7-5575-44AD-985E0E1B4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20668-4557-FA2C-B96D-7CF2E754F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D008D-01AA-0C16-4580-ACD5EEE0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D9ADD-F6D7-545C-6766-C2DE489D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FD05-4162-803D-2974-682351AE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9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6A52-26CD-8004-E78E-727326C4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E1F52-D5F2-219A-E83D-7415F8E99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7D352-DFFA-D2A5-0124-A1E0BC39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E724D-B3B3-B0A8-A6B4-6556AEBE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37D1-C6C0-8FC6-6D1F-814A11D4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3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05736-709A-5B29-0EEB-E46612821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1B85B-AB05-DF4D-9EA4-6DAB8BE58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4B057-D088-EAD7-47C5-1D5398B3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EFE10-6087-72D3-824A-B1EDA30F1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379A-7D74-9CAC-3042-FB83DC6B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149D85-7882-E523-5758-D0E786791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F5E18-C587-D696-72E5-B45E3AAA8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9D6D1-52B2-DFA2-4228-C8798BB64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DE5FD-AFCE-4389-A924-3D070EF5C8B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14A-92B2-D27D-D5D1-14228C4A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86026-16F5-3EDF-6E20-1F69DF8BC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B304-C89F-42D1-965F-305004043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EF27-F9C4-0816-2DB7-4E3AE10D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&amp;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C1290-44C3-A47E-CA5B-9496E48A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Used transcript evaluation Python library (</a:t>
            </a:r>
            <a:r>
              <a:rPr lang="en-US" i="1" dirty="0" err="1"/>
              <a:t>jiwer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Side-by-side comparison</a:t>
            </a:r>
          </a:p>
          <a:p>
            <a:pPr lvl="1"/>
            <a:r>
              <a:rPr lang="en-US" dirty="0"/>
              <a:t>Analysis of error types</a:t>
            </a:r>
          </a:p>
          <a:p>
            <a:pPr lvl="2"/>
            <a:r>
              <a:rPr lang="en-US" dirty="0"/>
              <a:t>Classification: transcript level, post-transcript level, eval level</a:t>
            </a:r>
          </a:p>
          <a:p>
            <a:pPr lvl="1"/>
            <a:r>
              <a:rPr lang="en-US" dirty="0"/>
              <a:t>Spelling mistake metric (</a:t>
            </a:r>
            <a:r>
              <a:rPr lang="en-US" i="1" dirty="0" err="1"/>
              <a:t>Levenshtein</a:t>
            </a:r>
            <a:r>
              <a:rPr lang="en-US" i="1" dirty="0"/>
              <a:t> distance</a:t>
            </a:r>
            <a:r>
              <a:rPr lang="en-US" dirty="0"/>
              <a:t>)</a:t>
            </a:r>
          </a:p>
          <a:p>
            <a:r>
              <a:rPr lang="en-US" dirty="0"/>
              <a:t>Comparison of multiple Whisper models</a:t>
            </a:r>
          </a:p>
          <a:p>
            <a:pPr lvl="1"/>
            <a:r>
              <a:rPr lang="en-US" dirty="0"/>
              <a:t>OpenAI Whisper, gpt-4o-transcribe, </a:t>
            </a:r>
            <a:r>
              <a:rPr lang="en-US" dirty="0" err="1"/>
              <a:t>WhisperX</a:t>
            </a:r>
            <a:r>
              <a:rPr lang="en-US" dirty="0"/>
              <a:t> (v3, v2, large, medium, small, tiny)</a:t>
            </a:r>
          </a:p>
          <a:p>
            <a:r>
              <a:rPr lang="en-US" dirty="0"/>
              <a:t>Post transcript enhancement</a:t>
            </a:r>
          </a:p>
          <a:p>
            <a:pPr lvl="1"/>
            <a:r>
              <a:rPr lang="en-US" dirty="0"/>
              <a:t>Analysis of </a:t>
            </a:r>
            <a:r>
              <a:rPr lang="en-US" dirty="0" err="1"/>
              <a:t>logprobs</a:t>
            </a:r>
            <a:endParaRPr lang="en-US" dirty="0"/>
          </a:p>
          <a:p>
            <a:pPr lvl="1"/>
            <a:r>
              <a:rPr lang="en-US" dirty="0"/>
              <a:t>2-pass LLM-based enhancement</a:t>
            </a:r>
          </a:p>
          <a:p>
            <a:pPr lvl="1"/>
            <a:r>
              <a:rPr lang="en-US" dirty="0"/>
              <a:t>Quick fixes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1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482AC2-2AB3-E23A-4D37-00B510F4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21" y="0"/>
            <a:ext cx="4501877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9DC88D-8BFF-9DB1-BBE6-39DACCB3E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065" y="77821"/>
            <a:ext cx="4599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5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3F88-D845-973D-FC9F-93295A8D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8A4432-3889-9A0C-E4E9-BA5E02236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" y="1466576"/>
            <a:ext cx="1189838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6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8A1C-0188-9A66-867D-51048502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5D7E56-33CD-5D8C-BF4C-8F62253A2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311775"/>
              </p:ext>
            </p:extLst>
          </p:nvPr>
        </p:nvGraphicFramePr>
        <p:xfrm>
          <a:off x="152090" y="620130"/>
          <a:ext cx="12039910" cy="60496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3949">
                  <a:extLst>
                    <a:ext uri="{9D8B030D-6E8A-4147-A177-3AD203B41FA5}">
                      <a16:colId xmlns:a16="http://schemas.microsoft.com/office/drawing/2014/main" val="1243376936"/>
                    </a:ext>
                  </a:extLst>
                </a:gridCol>
                <a:gridCol w="3578855">
                  <a:extLst>
                    <a:ext uri="{9D8B030D-6E8A-4147-A177-3AD203B41FA5}">
                      <a16:colId xmlns:a16="http://schemas.microsoft.com/office/drawing/2014/main" val="523091938"/>
                    </a:ext>
                  </a:extLst>
                </a:gridCol>
                <a:gridCol w="3578855">
                  <a:extLst>
                    <a:ext uri="{9D8B030D-6E8A-4147-A177-3AD203B41FA5}">
                      <a16:colId xmlns:a16="http://schemas.microsoft.com/office/drawing/2014/main" val="3348831979"/>
                    </a:ext>
                  </a:extLst>
                </a:gridCol>
                <a:gridCol w="2908251">
                  <a:extLst>
                    <a:ext uri="{9D8B030D-6E8A-4147-A177-3AD203B41FA5}">
                      <a16:colId xmlns:a16="http://schemas.microsoft.com/office/drawing/2014/main" val="1635940813"/>
                    </a:ext>
                  </a:extLst>
                </a:gridCol>
              </a:tblGrid>
              <a:tr h="1680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Error type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Description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Examples (from eval reports)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Fix vs live with (and fix stage)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1836527227"/>
                  </a:ext>
                </a:extLst>
              </a:tr>
              <a:tr h="875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Brands / proper nouns garbled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Brand/company names become phonetically similar nonsense tokens → high-impact substitutions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Straumann → Strauman, Dentsply Sirona → (split/garbled variants), Nobel Biocare → Nobel / Biocare distortions, Camlog Conelog → Camlog / Conelog variants, Implantona → implantoona/implanttoona (Ajokortti_eval.txt)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 (high priority): Post-transcription</a:t>
                      </a:r>
                      <a:r>
                        <a:rPr lang="en-US" sz="1400" kern="100" dirty="0">
                          <a:effectLst/>
                        </a:rPr>
                        <a:t>: entity normalization (standard brand list + fuzzy matching). If errors are extreme, a transcription-level prompt/glossary could help.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3561932007"/>
                  </a:ext>
                </a:extLst>
              </a:tr>
              <a:tr h="344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Names altered (identity drift)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Person names/surnames wrong (near-miss) → high user-visible errors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i-FI" sz="1400" kern="100">
                          <a:effectLst/>
                        </a:rPr>
                        <a:t>Martola/Martoon, Pallonen/Pallosen, Suojärvi/Suojärven (Ajokortti_eval.txt)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Post-transcription</a:t>
                      </a:r>
                      <a:r>
                        <a:rPr lang="en-US" sz="1400" kern="100" dirty="0">
                          <a:effectLst/>
                        </a:rPr>
                        <a:t>: spelling + dictionary-mapped variants only.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2166450231"/>
                  </a:ext>
                </a:extLst>
              </a:tr>
              <a:tr h="521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Digits vs Finnish number words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Reference uses words, but hypothesis uses digits (or vice versa) → full word errors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i-FI" sz="1400" kern="100">
                          <a:effectLst/>
                        </a:rPr>
                        <a:t>kahdenkymmenen → 20, yksitoista → 11 (Ari_Heiskanen_1_eval.txt); viisikymmentäkuusi → 56 (Ari_Heiskanen_2_eval.txt)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Post-transcription</a:t>
                      </a:r>
                      <a:r>
                        <a:rPr lang="en-US" sz="1400" kern="100" dirty="0">
                          <a:effectLst/>
                        </a:rPr>
                        <a:t>: normalize to one policy (digits or words).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2863786192"/>
                  </a:ext>
                </a:extLst>
              </a:tr>
              <a:tr h="521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Decimals / spoken math tokenization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“X ja puoli”, ranges, decimals become wrong single tokens or odd splits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i-FI" sz="1400" kern="100" dirty="0">
                          <a:effectLst/>
                        </a:rPr>
                        <a:t>... ja puoli → 375 (</a:t>
                      </a:r>
                      <a:r>
                        <a:rPr lang="fi-FI" sz="1400" kern="100" dirty="0" err="1">
                          <a:effectLst/>
                        </a:rPr>
                        <a:t>likely</a:t>
                      </a:r>
                      <a:r>
                        <a:rPr lang="fi-FI" sz="1400" kern="100" dirty="0">
                          <a:effectLst/>
                        </a:rPr>
                        <a:t> </a:t>
                      </a:r>
                      <a:r>
                        <a:rPr lang="fi-FI" sz="1400" kern="100" dirty="0" err="1">
                          <a:effectLst/>
                        </a:rPr>
                        <a:t>intended</a:t>
                      </a:r>
                      <a:r>
                        <a:rPr lang="fi-FI" sz="1400" kern="100" dirty="0">
                          <a:effectLst/>
                        </a:rPr>
                        <a:t> 37.5) (Ari_Heiskanen_1_eval.txt); kolmeviisi ↔ kolme viiva viisi (Antti_Ulvio_Pohjustus_eval.txt)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</a:t>
                      </a:r>
                      <a:r>
                        <a:rPr lang="en-US" sz="1400" kern="100" dirty="0">
                          <a:effectLst/>
                        </a:rPr>
                        <a:t>Mostly post-transcription with a Finnish number/decimal normalizer.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2299062046"/>
                  </a:ext>
                </a:extLst>
              </a:tr>
              <a:tr h="521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Function-word deletions (glue words missing)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Short words dropped: hurts WER but meaning often survives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i-FI" sz="1400" kern="100" dirty="0" err="1">
                          <a:effectLst/>
                        </a:rPr>
                        <a:t>frequent</a:t>
                      </a:r>
                      <a:r>
                        <a:rPr lang="fi-FI" sz="1400" kern="100" dirty="0">
                          <a:effectLst/>
                        </a:rPr>
                        <a:t> [</a:t>
                      </a:r>
                      <a:r>
                        <a:rPr lang="fi-FI" sz="1400" kern="100" dirty="0" err="1">
                          <a:effectLst/>
                        </a:rPr>
                        <a:t>D:ja</a:t>
                      </a:r>
                      <a:r>
                        <a:rPr lang="fi-FI" sz="1400" kern="100" dirty="0">
                          <a:effectLst/>
                        </a:rPr>
                        <a:t>], [</a:t>
                      </a:r>
                      <a:r>
                        <a:rPr lang="fi-FI" sz="1400" kern="100" dirty="0" err="1">
                          <a:effectLst/>
                        </a:rPr>
                        <a:t>D:että</a:t>
                      </a:r>
                      <a:r>
                        <a:rPr lang="fi-FI" sz="1400" kern="100" dirty="0">
                          <a:effectLst/>
                        </a:rPr>
                        <a:t>], [</a:t>
                      </a:r>
                      <a:r>
                        <a:rPr lang="fi-FI" sz="1400" kern="100" dirty="0" err="1">
                          <a:effectLst/>
                        </a:rPr>
                        <a:t>D:se</a:t>
                      </a:r>
                      <a:r>
                        <a:rPr lang="fi-FI" sz="1400" kern="100" dirty="0">
                          <a:effectLst/>
                        </a:rPr>
                        <a:t>] </a:t>
                      </a:r>
                      <a:r>
                        <a:rPr lang="fi-FI" sz="1400" kern="100" dirty="0" err="1">
                          <a:effectLst/>
                        </a:rPr>
                        <a:t>patterns</a:t>
                      </a:r>
                      <a:r>
                        <a:rPr lang="fi-FI" sz="1400" kern="100" dirty="0">
                          <a:effectLst/>
                        </a:rPr>
                        <a:t> (Ajokortti_eval.txt, Atte_Lajunen_1080p_eval.txt)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Often </a:t>
                      </a:r>
                      <a:r>
                        <a:rPr lang="en-US" sz="1400" b="1" kern="100" dirty="0">
                          <a:effectLst/>
                        </a:rPr>
                        <a:t>live with it </a:t>
                      </a:r>
                      <a:r>
                        <a:rPr lang="en-US" sz="1400" kern="100" dirty="0">
                          <a:effectLst/>
                        </a:rPr>
                        <a:t>if the meaning is intact. A post-transcription insertion of a small whitelist (</a:t>
                      </a:r>
                      <a:r>
                        <a:rPr lang="en-US" sz="1400" kern="100" dirty="0" err="1">
                          <a:effectLst/>
                        </a:rPr>
                        <a:t>että</a:t>
                      </a:r>
                      <a:r>
                        <a:rPr lang="en-US" sz="1400" kern="100" dirty="0">
                          <a:effectLst/>
                        </a:rPr>
                        <a:t>/ja/</a:t>
                      </a:r>
                      <a:r>
                        <a:rPr lang="en-US" sz="1400" kern="100" dirty="0" err="1">
                          <a:effectLst/>
                        </a:rPr>
                        <a:t>niin</a:t>
                      </a:r>
                      <a:r>
                        <a:rPr lang="en-US" sz="1400" kern="100" dirty="0">
                          <a:effectLst/>
                        </a:rPr>
                        <a:t>/…).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4036358685"/>
                  </a:ext>
                </a:extLst>
              </a:tr>
              <a:tr h="698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Unhelpful insertions (extra fillers/words)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Extra small words inserted → slight WER increase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insertions like ... [I] around sentence starts and discourse words (Ajokortti_eval.txt, Antti_Ulvio_Pohjustus_eval.txt)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Usually </a:t>
                      </a:r>
                      <a:r>
                        <a:rPr lang="en-US" sz="1400" b="1" kern="100" dirty="0">
                          <a:effectLst/>
                        </a:rPr>
                        <a:t>live with </a:t>
                      </a:r>
                      <a:r>
                        <a:rPr lang="en-US" sz="1400" kern="100" dirty="0">
                          <a:effectLst/>
                        </a:rPr>
                        <a:t>unless the meaning changes. If needed: post-transcription filter repeated filler duplicates; avoid aggressive “helpful” rewriting.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168891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12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233F-575A-D53E-5308-65EE90E2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511340-8BBB-B439-44BA-AAE956366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18327"/>
              </p:ext>
            </p:extLst>
          </p:nvPr>
        </p:nvGraphicFramePr>
        <p:xfrm>
          <a:off x="324693" y="1340103"/>
          <a:ext cx="11542614" cy="46015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2417">
                  <a:extLst>
                    <a:ext uri="{9D8B030D-6E8A-4147-A177-3AD203B41FA5}">
                      <a16:colId xmlns:a16="http://schemas.microsoft.com/office/drawing/2014/main" val="3237132937"/>
                    </a:ext>
                  </a:extLst>
                </a:gridCol>
                <a:gridCol w="3431034">
                  <a:extLst>
                    <a:ext uri="{9D8B030D-6E8A-4147-A177-3AD203B41FA5}">
                      <a16:colId xmlns:a16="http://schemas.microsoft.com/office/drawing/2014/main" val="3597670467"/>
                    </a:ext>
                  </a:extLst>
                </a:gridCol>
                <a:gridCol w="2998534">
                  <a:extLst>
                    <a:ext uri="{9D8B030D-6E8A-4147-A177-3AD203B41FA5}">
                      <a16:colId xmlns:a16="http://schemas.microsoft.com/office/drawing/2014/main" val="971470918"/>
                    </a:ext>
                  </a:extLst>
                </a:gridCol>
                <a:gridCol w="3220629">
                  <a:extLst>
                    <a:ext uri="{9D8B030D-6E8A-4147-A177-3AD203B41FA5}">
                      <a16:colId xmlns:a16="http://schemas.microsoft.com/office/drawing/2014/main" val="849676643"/>
                    </a:ext>
                  </a:extLst>
                </a:gridCol>
              </a:tblGrid>
              <a:tr h="698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Finnish morphology / case ending errors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Same lemma but wrong case/number/ending → substitutions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e.g., plural/singular or case changes like ...-</a:t>
                      </a:r>
                      <a:r>
                        <a:rPr lang="en-US" sz="1400" kern="100" dirty="0" err="1">
                          <a:effectLst/>
                        </a:rPr>
                        <a:t>llä</a:t>
                      </a:r>
                      <a:r>
                        <a:rPr lang="en-US" sz="1400" kern="100" dirty="0">
                          <a:effectLst/>
                        </a:rPr>
                        <a:t> ↔ ...-</a:t>
                      </a:r>
                      <a:r>
                        <a:rPr lang="en-US" sz="1400" kern="100" dirty="0" err="1">
                          <a:effectLst/>
                        </a:rPr>
                        <a:t>llä</a:t>
                      </a:r>
                      <a:r>
                        <a:rPr lang="en-US" sz="1400" kern="100" dirty="0">
                          <a:effectLst/>
                        </a:rPr>
                        <a:t> type drift (Aki_Linden_20210115_Final_1080p_eval.txt, Hannu_Heiska_eval.txt)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Fix: Post-transcription Finnish-aware correction (inflection only when very clear). Avoid meaning-changing edits.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2441921793"/>
                  </a:ext>
                </a:extLst>
              </a:tr>
              <a:tr h="698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Compound + hyphenation inconsistencies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Compounds split/merged; hyphenated clinical terms vary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peri-implantiitti ↔ periimplantiitti variants (Ajokortti_eval.txt); compound merging/splitting causing deletions (Finnendo_Pohjustus_eval.txt)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Post-transcription </a:t>
                      </a:r>
                      <a:r>
                        <a:rPr lang="en-US" sz="1400" kern="100" dirty="0">
                          <a:effectLst/>
                        </a:rPr>
                        <a:t>consistency normalization.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948870298"/>
                  </a:ext>
                </a:extLst>
              </a:tr>
              <a:tr h="698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Loanword / English term distortion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English technical tokens misheard into unrelated Finnish words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lowdose</a:t>
                      </a:r>
                      <a:r>
                        <a:rPr lang="en-US" sz="1400" kern="100" dirty="0">
                          <a:effectLst/>
                        </a:rPr>
                        <a:t> → </a:t>
                      </a:r>
                      <a:r>
                        <a:rPr lang="en-US" sz="1400" kern="100" dirty="0" err="1">
                          <a:effectLst/>
                        </a:rPr>
                        <a:t>loudausohjelmia</a:t>
                      </a:r>
                      <a:r>
                        <a:rPr lang="en-US" sz="1400" kern="100" dirty="0">
                          <a:effectLst/>
                        </a:rPr>
                        <a:t> (Atte_Lajunen_1080p_eval.txt); minor loanword variants in endo/prosthetics context (Finnendo_Pohjustus_eval.txt)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Post-transcription </a:t>
                      </a:r>
                      <a:r>
                        <a:rPr lang="en-US" sz="1400" kern="100" dirty="0">
                          <a:effectLst/>
                        </a:rPr>
                        <a:t>bilingual domain lexicon + consistency.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1528190467"/>
                  </a:ext>
                </a:extLst>
              </a:tr>
              <a:tr h="521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Catastrophic omissions (chunk missing)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Large consecutive deletions → not recoverable safely from text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Atte </a:t>
                      </a:r>
                      <a:r>
                        <a:rPr lang="en-US" sz="1400" kern="100" dirty="0" err="1">
                          <a:effectLst/>
                        </a:rPr>
                        <a:t>Lajunen</a:t>
                      </a:r>
                      <a:r>
                        <a:rPr lang="en-US" sz="1400" kern="100" dirty="0">
                          <a:effectLst/>
                        </a:rPr>
                        <a:t> shows very high deletions; long [D:...] runs (Atte_Lajunen_1080p_eval.txt)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Must fix at the </a:t>
                      </a:r>
                      <a:r>
                        <a:rPr lang="en-US" sz="1400" b="1" kern="100" dirty="0">
                          <a:effectLst/>
                        </a:rPr>
                        <a:t>transcription level (fine-tuning)</a:t>
                      </a:r>
                      <a:r>
                        <a:rPr lang="en-US" sz="1400" kern="100" dirty="0">
                          <a:effectLst/>
                        </a:rPr>
                        <a:t>. Should not be done at the post-transcript level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2575589134"/>
                  </a:ext>
                </a:extLst>
              </a:tr>
              <a:tr h="521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Evaluation artifacts (style vs content)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Changes that are “better text” but penalized by WER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hyphen/spacing differences (hands-on ↔ hands on) and similar tokenization shifts (Ajokortti_eval.txt)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Fix: Evaluation-level </a:t>
                      </a:r>
                      <a:r>
                        <a:rPr lang="en-US" sz="1400" kern="100" dirty="0">
                          <a:effectLst/>
                        </a:rPr>
                        <a:t>normalization (hyphen/number policy) + post-transcription consistent formatting.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933" marR="37933" marT="0" marB="0"/>
                </a:tc>
                <a:extLst>
                  <a:ext uri="{0D108BD9-81ED-4DB2-BD59-A6C34878D82A}">
                    <a16:rowId xmlns:a16="http://schemas.microsoft.com/office/drawing/2014/main" val="179631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45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8A69-0D8C-C673-0E5D-B8FAC68A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221A-C574-B342-4A5D-69390E3D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BCE8-F362-8391-5479-2B42BBDC9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Deletion rate is the most critical issue</a:t>
            </a:r>
          </a:p>
          <a:p>
            <a:r>
              <a:rPr lang="en-US" dirty="0"/>
              <a:t>Transcription-level enhancements</a:t>
            </a:r>
          </a:p>
          <a:p>
            <a:pPr lvl="1"/>
            <a:r>
              <a:rPr lang="en-US" b="1" dirty="0"/>
              <a:t>Fine-tuning</a:t>
            </a:r>
            <a:r>
              <a:rPr lang="en-US" dirty="0"/>
              <a:t>, adjusting ASR parameters</a:t>
            </a:r>
          </a:p>
          <a:p>
            <a:r>
              <a:rPr lang="en-US" dirty="0"/>
              <a:t>Quick fixes: post-transcript enhancements (LLM-based)</a:t>
            </a:r>
          </a:p>
          <a:p>
            <a:pPr lvl="1"/>
            <a:r>
              <a:rPr lang="en-US" dirty="0"/>
              <a:t>Proper nouns, spellings, digits vs. numbers, decimals, Finnish morphology / case ending, compound + hyphenation inconsistencies, loanword / English term distortion</a:t>
            </a:r>
          </a:p>
          <a:p>
            <a:r>
              <a:rPr lang="en-US" dirty="0"/>
              <a:t>Decision between </a:t>
            </a:r>
            <a:r>
              <a:rPr lang="en-US" dirty="0" err="1"/>
              <a:t>WhisperX</a:t>
            </a:r>
            <a:r>
              <a:rPr lang="en-US" dirty="0"/>
              <a:t> (large) vs. gpt-4o-transcribe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70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842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Comparisons &amp; Experiments</vt:lpstr>
      <vt:lpstr>PowerPoint Presentation</vt:lpstr>
      <vt:lpstr>PowerPoint Presentation</vt:lpstr>
      <vt:lpstr>PowerPoint Presentation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 Umair Ali</dc:creator>
  <cp:lastModifiedBy>Khan Umair Ali</cp:lastModifiedBy>
  <cp:revision>7</cp:revision>
  <dcterms:created xsi:type="dcterms:W3CDTF">2026-01-16T07:00:57Z</dcterms:created>
  <dcterms:modified xsi:type="dcterms:W3CDTF">2026-01-16T09:05:26Z</dcterms:modified>
</cp:coreProperties>
</file>