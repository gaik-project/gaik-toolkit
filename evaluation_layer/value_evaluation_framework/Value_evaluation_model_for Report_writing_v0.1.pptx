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1C745D-67AC-40FA-AF17-44C1E32363B3}" v="1" dt="2026-02-06T18:20:09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customXml" Target="../customXml/item1.xml"/><Relationship Id="rId11" Type="http://schemas.openxmlformats.org/officeDocument/2006/relationships/customXml" Target="../customXml/item2.xml"/><Relationship Id="rId1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dryavtsev Dmitry" userId="0d8c633e-2865-4eba-89cb-1969e4bc504a" providerId="ADAL" clId="{6D4AA8ED-18D4-475F-B2E0-883CE4E9559C}"/>
    <pc:docChg chg="addSld modSld">
      <pc:chgData name="Kudryavtsev Dmitry" userId="0d8c633e-2865-4eba-89cb-1969e4bc504a" providerId="ADAL" clId="{6D4AA8ED-18D4-475F-B2E0-883CE4E9559C}" dt="2026-02-06T18:20:09.853" v="0"/>
      <pc:docMkLst>
        <pc:docMk/>
      </pc:docMkLst>
      <pc:sldChg chg="add">
        <pc:chgData name="Kudryavtsev Dmitry" userId="0d8c633e-2865-4eba-89cb-1969e4bc504a" providerId="ADAL" clId="{6D4AA8ED-18D4-475F-B2E0-883CE4E9559C}" dt="2026-02-06T18:20:09.853" v="0"/>
        <pc:sldMkLst>
          <pc:docMk/>
          <pc:sldMk cId="2218209221" sldId="298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A4A23-A4A6-62E3-2AFA-F2ABCCFB4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096CA-0B92-BAB1-CDC6-5C71DA98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A0EA9-A54E-E597-D821-2AFC8B1B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283FD-08F0-D57F-A34E-1AD0CA80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29EF4-7FAD-3CB5-4674-E6E83C574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10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9A28-AC0F-5A6D-3FD6-114F82FB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D4F2A-A4D3-E00F-038D-D23C779E0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D218A-2A0F-B2CC-B54A-32820FD75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5909A-AFCF-5024-F30A-F95C8908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3FEA1-AD8C-A7F2-9C0A-FF66A590F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18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430F-D2B4-3402-9363-E0DF043F0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A9F79-BF63-4B5A-DF88-3B8520678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CEEB3-F8E2-26F5-C52B-20601F09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AF130-B3A2-9052-CBA2-12B9AB72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ED555-F1D6-0CCC-FFDE-2212A024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987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2441-B1ED-2617-5422-3D1FAE2F8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C3D2F-7054-AC0D-4842-702401385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E2608-7575-9136-0696-50D7CCB31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7CD42-3F35-E492-2D6C-E7E9BC940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76E49-F5A0-FC45-CF89-3339B716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ECA39-6979-0866-4FF2-582DF641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34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57B4-810A-0582-2B6E-83D66DA0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11036-C92A-3F8C-EC76-C1EEE27BA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605CA-E465-BEEA-4C68-74AE9FD6E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F07A06-5502-3629-47F6-A78F7A741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23C1E-C08B-C4CD-B205-16FF7BC9E8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6D257-678F-5CE1-9DC2-86CA61036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D1E6C-B4AA-F947-A12F-173A6DA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C18D14-A456-AFBF-6E65-02CE0A6E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95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8F090-C865-E0D1-38D5-F3C8D3E6C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A10F51-E0B7-A9E9-D412-12A91972E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D8FBA-A0E7-6D89-F2DB-F5B77E32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43753-6271-4614-C552-6407F156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16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48E11-0F5E-28FE-BE4B-B6FC4C95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68CB30-400A-3985-35DA-0B60ADA4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4A2DC-463B-D2F0-D905-14E3F816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97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1073-5D9A-2A8A-7E24-9B116C38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531B8-229F-B643-5A45-760EC9DA8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300F2-5CC5-A797-6BF5-A714F4D3A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BDA71-767F-E235-6CE7-A54DA64B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540EC-BA55-44F3-7086-5811E3542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0A1F-767D-DAE5-6F7B-B029D800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949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5B8AD-31EC-9414-0D7D-75354B267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A70B5-B438-01BD-7015-7F110378A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693BD-B947-543B-E2D8-3CAF44549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CFBBD-5761-4D17-464F-9DB13924A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ABD40-B27B-CA18-BB69-283BDA35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D2001-829E-FFAC-62A4-22430A83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638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2DD2-30A5-39A1-F917-33B7AC35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C349E-6BFF-B4C7-2FF9-286CA15CF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31391-05A9-7E21-8DE3-D23CBA01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519E9-C6F7-D8E8-E8E0-9084B5A7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9B3E0-71CB-AA2A-E439-5331567B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25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42A560-DCAB-4A08-DF0D-9C7AC9004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7DEA7-00B7-AA75-8C9F-92A1F2C4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39D2A-D877-7DE5-8616-01F8062D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ED042-0865-10C4-9BE8-485D7624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FD4BA-75FD-828F-33DD-2E4DB700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665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44F2DD0-4EFA-CC68-39AE-304097D9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0657" y="6288437"/>
            <a:ext cx="815406" cy="365125"/>
          </a:xfrm>
          <a:prstGeom prst="rect">
            <a:avLst/>
          </a:prstGeom>
        </p:spPr>
        <p:txBody>
          <a:bodyPr/>
          <a:lstStyle/>
          <a:p>
            <a:fld id="{D2E17652-E0E3-4679-AD73-518C995FCB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4458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_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302588"/>
            <a:ext cx="11125198" cy="4610849"/>
          </a:xfr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94154B-3085-69DC-543E-666622E0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76045"/>
            <a:ext cx="11125200" cy="668517"/>
          </a:xfrm>
          <a:prstGeom prst="rect">
            <a:avLst/>
          </a:prstGeom>
        </p:spPr>
        <p:txBody>
          <a:bodyPr vert="horz" lIns="0" tIns="0" rIns="0" bIns="3600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402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E082-2168-4BAE-A930-81823E3D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2535" y="31857"/>
            <a:ext cx="10248179" cy="9860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79A4-90EE-494F-9E2B-028C3F2D0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464"/>
            <a:ext cx="10515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5713A-AD1F-4D30-BE81-AE33745A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932F-4BD0-4E2C-BF36-5010C84A111F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65B76-DBB2-4741-90C0-9426D587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4B235-6322-4F40-95D6-6FEA9BF1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17652-E0E3-4679-AD73-518C995FCB2A}" type="slidenum">
              <a:rPr lang="LID4096" smtClean="0"/>
              <a:t>‹#›</a:t>
            </a:fld>
            <a:endParaRPr lang="LID4096"/>
          </a:p>
        </p:txBody>
      </p:sp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A2AAAD7C-BC8F-8299-39CC-A4B0955B4B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" y="31857"/>
            <a:ext cx="1431530" cy="69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914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Relationship Id="rId5" Type="http://schemas.openxmlformats.org/officeDocument/2006/relationships/image" Target="../media/image1.png"/><Relationship Id="rId6" Type="http://schemas.openxmlformats.org/officeDocument/2006/relationships/image" Target="../media/image2.jpe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AFD25-0EE4-623E-9617-5F0E7641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6AC62-F5E2-D6C6-8F80-78B07D40A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32122-939F-F4FD-10FF-7EE92988A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651EA-286D-4CF5-A058-55027B119C1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3AEC7-5BEA-A432-C64F-9A06B2FB5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B802-DCA9-4619-75A4-CECD5A0C6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1EEEE-1206-4C73-8E87-98A1638193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28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63482-3E3E-724A-87A8-CA82245B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26169"/>
            <a:ext cx="11125199" cy="959168"/>
          </a:xfrm>
          <a:prstGeom prst="rect">
            <a:avLst/>
          </a:prstGeom>
        </p:spPr>
        <p:txBody>
          <a:bodyPr vert="horz" lIns="0" tIns="0" rIns="0" bIns="3600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C45BB-E865-604D-BAD8-9A4AAA649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609336"/>
            <a:ext cx="11125200" cy="4140200"/>
          </a:xfrm>
          <a:prstGeom prst="rect">
            <a:avLst/>
          </a:prstGeom>
        </p:spPr>
        <p:txBody>
          <a:bodyPr vert="horz" lIns="0" tIns="0" rIns="0" bIns="36000" numCol="2" spcCol="360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BB03F7-6D8B-994F-B00B-57FCFD1550EE}"/>
              </a:ext>
            </a:extLst>
          </p:cNvPr>
          <p:cNvSpPr/>
          <p:nvPr userDrawn="1"/>
        </p:nvSpPr>
        <p:spPr>
          <a:xfrm>
            <a:off x="0" y="6136545"/>
            <a:ext cx="12192000" cy="7214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3BE1B-B189-8D41-8637-DAFFE0A4F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977" y="6288437"/>
            <a:ext cx="384086" cy="3651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76BAB7ED-EDE9-4D4B-9A2D-30E18C47C16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69003C9-084D-FC26-1D39-0D749248175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3335" y="6224222"/>
            <a:ext cx="2396986" cy="534797"/>
          </a:xfrm>
          <a:prstGeom prst="rect">
            <a:avLst/>
          </a:prstGeom>
        </p:spPr>
      </p:pic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65E5AF0-B41F-D724-AC9E-2D9EC748B3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6005" b="22114"/>
          <a:stretch/>
        </p:blipFill>
        <p:spPr>
          <a:xfrm>
            <a:off x="4930715" y="6139166"/>
            <a:ext cx="1295400" cy="720021"/>
          </a:xfrm>
          <a:prstGeom prst="rect">
            <a:avLst/>
          </a:prstGeom>
        </p:spPr>
      </p:pic>
      <p:pic>
        <p:nvPicPr>
          <p:cNvPr id="12" name="Picture 1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D739856-1CBC-F3E7-8AB3-1220AB3FD40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6305539"/>
            <a:ext cx="1119144" cy="369521"/>
          </a:xfrm>
          <a:prstGeom prst="rect">
            <a:avLst/>
          </a:prstGeom>
        </p:spPr>
      </p:pic>
      <p:pic>
        <p:nvPicPr>
          <p:cNvPr id="13" name="Picture 12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E3BB73EA-BD26-A591-9B30-DBD48FBFCDF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794" y="6165164"/>
            <a:ext cx="1667355" cy="650268"/>
          </a:xfrm>
          <a:prstGeom prst="rect">
            <a:avLst/>
          </a:prstGeom>
        </p:spPr>
      </p:pic>
      <p:pic>
        <p:nvPicPr>
          <p:cNvPr id="14" name="Picture 13" descr="A black and grey logo&#10;&#10;AI-generated content may be incorrect.">
            <a:extLst>
              <a:ext uri="{FF2B5EF4-FFF2-40B4-BE49-F238E27FC236}">
                <a16:creationId xmlns:a16="http://schemas.microsoft.com/office/drawing/2014/main" id="{F37C63C1-9AFF-4F83-B92E-E2185D3D911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748" y="6154365"/>
            <a:ext cx="1610206" cy="67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9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/>
  <p:txStyles>
    <p:titleStyle>
      <a:lvl1pPr algn="l" defTabSz="914400" rtl="0" eaLnBrk="1" latinLnBrk="0" hangingPunct="1">
        <a:lnSpc>
          <a:spcPts val="39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ts val="22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47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1117">
          <p15:clr>
            <a:srgbClr val="F26B43"/>
          </p15:clr>
        </p15:guide>
        <p15:guide id="7" orient="horz" pos="3725">
          <p15:clr>
            <a:srgbClr val="F26B43"/>
          </p15:clr>
        </p15:guide>
        <p15:guide id="8" orient="horz" pos="4178">
          <p15:clr>
            <a:srgbClr val="F26B43"/>
          </p15:clr>
        </p15:guide>
        <p15:guide id="9" pos="3727">
          <p15:clr>
            <a:srgbClr val="F26B43"/>
          </p15:clr>
        </p15:guide>
        <p15:guide id="10" pos="3953">
          <p15:clr>
            <a:srgbClr val="F26B43"/>
          </p15:clr>
        </p15:guide>
        <p15:guide id="11" pos="1912">
          <p15:clr>
            <a:srgbClr val="F26B43"/>
          </p15:clr>
        </p15:guide>
        <p15:guide id="12" pos="2139">
          <p15:clr>
            <a:srgbClr val="F26B43"/>
          </p15:clr>
        </p15:guide>
        <p15:guide id="13" pos="5541">
          <p15:clr>
            <a:srgbClr val="F26B43"/>
          </p15:clr>
        </p15:guide>
        <p15:guide id="14" pos="5768">
          <p15:clr>
            <a:srgbClr val="F26B43"/>
          </p15:clr>
        </p15:guide>
        <p15:guide id="15" pos="4067">
          <p15:clr>
            <a:srgbClr val="F26B43"/>
          </p15:clr>
        </p15:guide>
        <p15:guide id="16" orient="horz" pos="3861">
          <p15:clr>
            <a:srgbClr val="F26B43"/>
          </p15:clr>
        </p15:guide>
        <p15:guide id="17" orient="horz" pos="14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AC8D-5D50-87E0-F208-ED624A64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Value evaluation model: Report writing use case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008ED3E-4250-5733-3BF2-0FBFF7FE0344}"/>
              </a:ext>
            </a:extLst>
          </p:cNvPr>
          <p:cNvSpPr txBox="1">
            <a:spLocks/>
          </p:cNvSpPr>
          <p:nvPr/>
        </p:nvSpPr>
        <p:spPr>
          <a:xfrm>
            <a:off x="7411597" y="1017916"/>
            <a:ext cx="3429001" cy="482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📊 Informational Value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🔗 Every statement traceable to a source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⚖️ Conflicts between sources made visible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📚 Reusable section-bound knowledge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Reports that can be checked, audited and reused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❤️ Emotional Value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🛡️ Confidence in signing the report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🖐️ Less routine writing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🤝 Trust in the draft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Inspectors spend their time on inspection and judgement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🌱 Social Value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🏠 Clear, consistent reports for customers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🔍 Transparent basis for property decisions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👥 Shared quality standard across inspectors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Stronger customer trust in the report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853852D-B527-DA41-CBAC-518B548B5C0A}"/>
              </a:ext>
            </a:extLst>
          </p:cNvPr>
          <p:cNvSpPr txBox="1">
            <a:spLocks/>
          </p:cNvSpPr>
          <p:nvPr/>
        </p:nvSpPr>
        <p:spPr>
          <a:xfrm>
            <a:off x="3799442" y="1017916"/>
            <a:ext cx="4593116" cy="38445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⚙️ Functional Value (Primary)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⏱️ Faster report writing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🧩 Less manual merging of sources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📋 Consistent template structure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✅ No required item silently left out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Outcome: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More reports completed per inspector, with fewer revision rounds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💰 Financial Value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📉 Lower writing effort per report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🛠️ Fewer corrections after delivery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📈 Higher report throughput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Outcome: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Lower cost per report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 diagram of benefits of genai implementation&#10;&#10;AI-generated content may be incorrect.">
            <a:extLst>
              <a:ext uri="{FF2B5EF4-FFF2-40B4-BE49-F238E27FC236}">
                <a16:creationId xmlns:a16="http://schemas.microsoft.com/office/drawing/2014/main" id="{BD85BA7C-8739-7863-DC8D-B13515B33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08" y="914558"/>
            <a:ext cx="3289697" cy="31314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D32DC0-84CC-D462-E29B-4F9CC03D9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12" y="4579213"/>
            <a:ext cx="4002796" cy="13642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968163-8AE8-5D0A-2912-D57B37DD94C8}"/>
              </a:ext>
            </a:extLst>
          </p:cNvPr>
          <p:cNvSpPr txBox="1"/>
          <p:nvPr/>
        </p:nvSpPr>
        <p:spPr>
          <a:xfrm>
            <a:off x="10708888" y="0"/>
            <a:ext cx="1483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572F9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BETA version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E2DFB-9CCC-A87D-A26C-B79258838A7C}"/>
              </a:ext>
            </a:extLst>
          </p:cNvPr>
          <p:cNvSpPr txBox="1"/>
          <p:nvPr/>
        </p:nvSpPr>
        <p:spPr>
          <a:xfrm>
            <a:off x="759373" y="1367631"/>
            <a:ext cx="822661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CAD510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Informational</a:t>
            </a:r>
          </a:p>
        </p:txBody>
      </p:sp>
    </p:spTree>
    <p:extLst>
      <p:ext uri="{BB962C8B-B14F-4D97-AF65-F5344CB8AC3E}">
        <p14:creationId xmlns:p14="http://schemas.microsoft.com/office/powerpoint/2010/main" val="221820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Custom 1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9C2"/>
      </a:accent1>
      <a:accent2>
        <a:srgbClr val="8BADDC"/>
      </a:accent2>
      <a:accent3>
        <a:srgbClr val="00AACD"/>
      </a:accent3>
      <a:accent4>
        <a:srgbClr val="CAD510"/>
      </a:accent4>
      <a:accent5>
        <a:srgbClr val="99C879"/>
      </a:accent5>
      <a:accent6>
        <a:srgbClr val="FBB900"/>
      </a:accent6>
      <a:hlink>
        <a:srgbClr val="DF006E"/>
      </a:hlink>
      <a:folHlink>
        <a:srgbClr val="888B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aga_Helia_PPT2020_simplified_FINAL.pptx" id="{F8AF45FA-2485-4975-9724-BCA7566B273D}" vid="{5C7E5427-9A9C-4C31-9507-78515B0EAB1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637C7E7AB6AB894987CF398648DBC836" ma:contentTypeVersion="12" ma:contentTypeDescription="Luo uusi asiakirja." ma:contentTypeScope="" ma:versionID="875dfd67fcc7eb71f5186b9cf35054d8">
  <xsd:schema xmlns:xsd="http://www.w3.org/2001/XMLSchema" xmlns:xs="http://www.w3.org/2001/XMLSchema" xmlns:p="http://schemas.microsoft.com/office/2006/metadata/properties" xmlns:ns2="821c299e-90c1-4fd0-bc6e-dedd7030ac76" xmlns:ns3="2e70be20-d9ef-4e8b-907b-980451580b60" targetNamespace="http://schemas.microsoft.com/office/2006/metadata/properties" ma:root="true" ma:fieldsID="c8b8378c08ad45c9ceeee89c00a34c6d" ns2:_="" ns3:_="">
    <xsd:import namespace="821c299e-90c1-4fd0-bc6e-dedd7030ac76"/>
    <xsd:import namespace="2e70be20-d9ef-4e8b-907b-980451580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1c299e-90c1-4fd0-bc6e-dedd7030ac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Kuvien tunnisteet" ma:readOnly="false" ma:fieldId="{5cf76f15-5ced-4ddc-b409-7134ff3c332f}" ma:taxonomyMulti="true" ma:sspId="b840f101-7d04-46f0-beee-8e35b8c16e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70be20-d9ef-4e8b-907b-980451580b6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1ad07f-4a67-4bee-b900-08b771dcff08}" ma:internalName="TaxCatchAll" ma:showField="CatchAllData" ma:web="2e70be20-d9ef-4e8b-907b-980451580b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21c299e-90c1-4fd0-bc6e-dedd7030ac76">
      <Terms xmlns="http://schemas.microsoft.com/office/infopath/2007/PartnerControls"/>
    </lcf76f155ced4ddcb4097134ff3c332f>
    <TaxCatchAll xmlns="2e70be20-d9ef-4e8b-907b-980451580b60" xsi:nil="true"/>
  </documentManagement>
</p:properties>
</file>

<file path=customXml/itemProps1.xml><?xml version="1.0" encoding="utf-8"?>
<ds:datastoreItem xmlns:ds="http://schemas.openxmlformats.org/officeDocument/2006/customXml" ds:itemID="{6779DAE9-1153-4510-9D44-12A1DFC5B572}"/>
</file>

<file path=customXml/itemProps2.xml><?xml version="1.0" encoding="utf-8"?>
<ds:datastoreItem xmlns:ds="http://schemas.openxmlformats.org/officeDocument/2006/customXml" ds:itemID="{ADBA36A2-9FC9-4EB3-884D-2BC249889624}"/>
</file>

<file path=customXml/itemProps3.xml><?xml version="1.0" encoding="utf-8"?>
<ds:datastoreItem xmlns:ds="http://schemas.openxmlformats.org/officeDocument/2006/customXml" ds:itemID="{9E491F84-3C5C-484D-ADEB-E48CF42839E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Wingdings</vt:lpstr>
      <vt:lpstr>Office Theme</vt:lpstr>
      <vt:lpstr>2_Office Theme</vt:lpstr>
      <vt:lpstr>Value evaluation model: Incident reporting use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Kudryavtsev Dmitry</dc:creator>
  <cp:lastModifiedBy>Kudryavtsev Dmitry</cp:lastModifiedBy>
  <cp:revision>1</cp:revision>
  <dcterms:created xsi:type="dcterms:W3CDTF">2026-02-06T18:20:04Z</dcterms:created>
  <dcterms:modified xsi:type="dcterms:W3CDTF">2026-02-06T18:20:13Z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0x010100637C7E7AB6AB894987CF398648DBC836</vt:lpwstr>
  </property>
</Properties>
</file>